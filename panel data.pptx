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6858000" cx="9144000"/>
  <p:notesSz cx="6858000" cy="9144000"/>
  <p:embeddedFontLst>
    <p:embeddedFont>
      <p:font typeface="Tahoma"/>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Tahoma-regular.fntdata"/><Relationship Id="rId25" Type="http://schemas.openxmlformats.org/officeDocument/2006/relationships/slide" Target="slides/slide20.xml"/><Relationship Id="rId27" Type="http://schemas.openxmlformats.org/officeDocument/2006/relationships/font" Target="fonts/Tahoma-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11" name="Shape 11"/>
        <p:cNvGrpSpPr/>
        <p:nvPr/>
      </p:nvGrpSpPr>
      <p:grpSpPr>
        <a:xfrm>
          <a:off x="0" y="0"/>
          <a:ext cx="0" cy="0"/>
          <a:chOff x="0" y="0"/>
          <a:chExt cx="0" cy="0"/>
        </a:xfrm>
      </p:grpSpPr>
      <p:sp>
        <p:nvSpPr>
          <p:cNvPr id="12" name="Google Shape;12;p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3" name="Google Shape;13;p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 name="Google Shape;14;p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sz="1400"/>
            </a:lvl1pPr>
            <a:lvl2pPr indent="0" lvl="1" marL="0" algn="r">
              <a:lnSpc>
                <a:spcPct val="100000"/>
              </a:lnSpc>
              <a:spcBef>
                <a:spcPts val="0"/>
              </a:spcBef>
              <a:spcAft>
                <a:spcPts val="0"/>
              </a:spcAft>
              <a:buNone/>
              <a:defRPr sz="1400"/>
            </a:lvl2pPr>
            <a:lvl3pPr indent="0" lvl="2" marL="0" algn="r">
              <a:lnSpc>
                <a:spcPct val="100000"/>
              </a:lnSpc>
              <a:spcBef>
                <a:spcPts val="0"/>
              </a:spcBef>
              <a:spcAft>
                <a:spcPts val="0"/>
              </a:spcAft>
              <a:buNone/>
              <a:defRPr sz="1400"/>
            </a:lvl3pPr>
            <a:lvl4pPr indent="0" lvl="3" marL="0" algn="r">
              <a:lnSpc>
                <a:spcPct val="100000"/>
              </a:lnSpc>
              <a:spcBef>
                <a:spcPts val="0"/>
              </a:spcBef>
              <a:spcAft>
                <a:spcPts val="0"/>
              </a:spcAft>
              <a:buNone/>
              <a:defRPr sz="1400"/>
            </a:lvl4pPr>
            <a:lvl5pPr indent="0" lvl="4" marL="0" algn="r">
              <a:lnSpc>
                <a:spcPct val="100000"/>
              </a:lnSpc>
              <a:spcBef>
                <a:spcPts val="0"/>
              </a:spcBef>
              <a:spcAft>
                <a:spcPts val="0"/>
              </a:spcAft>
              <a:buNone/>
              <a:defRPr sz="1400"/>
            </a:lvl5pPr>
            <a:lvl6pPr indent="0" lvl="5" marL="0" algn="r">
              <a:lnSpc>
                <a:spcPct val="100000"/>
              </a:lnSpc>
              <a:spcBef>
                <a:spcPts val="0"/>
              </a:spcBef>
              <a:spcAft>
                <a:spcPts val="0"/>
              </a:spcAft>
              <a:buNone/>
              <a:defRPr sz="1400"/>
            </a:lvl6pPr>
            <a:lvl7pPr indent="0" lvl="6" marL="0" algn="r">
              <a:lnSpc>
                <a:spcPct val="100000"/>
              </a:lnSpc>
              <a:spcBef>
                <a:spcPts val="0"/>
              </a:spcBef>
              <a:spcAft>
                <a:spcPts val="0"/>
              </a:spcAft>
              <a:buNone/>
              <a:defRPr sz="1400"/>
            </a:lvl7pPr>
            <a:lvl8pPr indent="0" lvl="7" marL="0" algn="r">
              <a:lnSpc>
                <a:spcPct val="100000"/>
              </a:lnSpc>
              <a:spcBef>
                <a:spcPts val="0"/>
              </a:spcBef>
              <a:spcAft>
                <a:spcPts val="0"/>
              </a:spcAft>
              <a:buNone/>
              <a:defRPr sz="1400"/>
            </a:lvl8pPr>
            <a:lvl9pPr indent="0" lvl="8" marL="0" algn="r">
              <a:lnSpc>
                <a:spcPct val="100000"/>
              </a:lnSpc>
              <a:spcBef>
                <a:spcPts val="0"/>
              </a:spcBef>
              <a:spcAft>
                <a:spcPts val="0"/>
              </a:spcAft>
              <a:buNone/>
              <a:defRPr sz="14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sz="1400"/>
            </a:lvl1pPr>
            <a:lvl2pPr indent="0" lvl="1" marL="0" algn="r">
              <a:lnSpc>
                <a:spcPct val="100000"/>
              </a:lnSpc>
              <a:spcBef>
                <a:spcPts val="0"/>
              </a:spcBef>
              <a:spcAft>
                <a:spcPts val="0"/>
              </a:spcAft>
              <a:buNone/>
              <a:defRPr sz="1400"/>
            </a:lvl2pPr>
            <a:lvl3pPr indent="0" lvl="2" marL="0" algn="r">
              <a:lnSpc>
                <a:spcPct val="100000"/>
              </a:lnSpc>
              <a:spcBef>
                <a:spcPts val="0"/>
              </a:spcBef>
              <a:spcAft>
                <a:spcPts val="0"/>
              </a:spcAft>
              <a:buNone/>
              <a:defRPr sz="1400"/>
            </a:lvl3pPr>
            <a:lvl4pPr indent="0" lvl="3" marL="0" algn="r">
              <a:lnSpc>
                <a:spcPct val="100000"/>
              </a:lnSpc>
              <a:spcBef>
                <a:spcPts val="0"/>
              </a:spcBef>
              <a:spcAft>
                <a:spcPts val="0"/>
              </a:spcAft>
              <a:buNone/>
              <a:defRPr sz="1400"/>
            </a:lvl4pPr>
            <a:lvl5pPr indent="0" lvl="4" marL="0" algn="r">
              <a:lnSpc>
                <a:spcPct val="100000"/>
              </a:lnSpc>
              <a:spcBef>
                <a:spcPts val="0"/>
              </a:spcBef>
              <a:spcAft>
                <a:spcPts val="0"/>
              </a:spcAft>
              <a:buNone/>
              <a:defRPr sz="1400"/>
            </a:lvl5pPr>
            <a:lvl6pPr indent="0" lvl="5" marL="0" algn="r">
              <a:lnSpc>
                <a:spcPct val="100000"/>
              </a:lnSpc>
              <a:spcBef>
                <a:spcPts val="0"/>
              </a:spcBef>
              <a:spcAft>
                <a:spcPts val="0"/>
              </a:spcAft>
              <a:buNone/>
              <a:defRPr sz="1400"/>
            </a:lvl6pPr>
            <a:lvl7pPr indent="0" lvl="6" marL="0" algn="r">
              <a:lnSpc>
                <a:spcPct val="100000"/>
              </a:lnSpc>
              <a:spcBef>
                <a:spcPts val="0"/>
              </a:spcBef>
              <a:spcAft>
                <a:spcPts val="0"/>
              </a:spcAft>
              <a:buNone/>
              <a:defRPr sz="1400"/>
            </a:lvl7pPr>
            <a:lvl8pPr indent="0" lvl="7" marL="0" algn="r">
              <a:lnSpc>
                <a:spcPct val="100000"/>
              </a:lnSpc>
              <a:spcBef>
                <a:spcPts val="0"/>
              </a:spcBef>
              <a:spcAft>
                <a:spcPts val="0"/>
              </a:spcAft>
              <a:buNone/>
              <a:defRPr sz="1400"/>
            </a:lvl8pPr>
            <a:lvl9pPr indent="0" lvl="8" marL="0" algn="r">
              <a:lnSpc>
                <a:spcPct val="100000"/>
              </a:lnSpc>
              <a:spcBef>
                <a:spcPts val="0"/>
              </a:spcBef>
              <a:spcAft>
                <a:spcPts val="0"/>
              </a:spcAft>
              <a:buNone/>
              <a:defRPr sz="14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on left, text on right" type="twoColTx">
  <p:cSld name="TITLE_AND_TWO_COLUMNS">
    <p:spTree>
      <p:nvGrpSpPr>
        <p:cNvPr id="21" name="Shape 21"/>
        <p:cNvGrpSpPr/>
        <p:nvPr/>
      </p:nvGrpSpPr>
      <p:grpSpPr>
        <a:xfrm>
          <a:off x="0" y="0"/>
          <a:ext cx="0" cy="0"/>
          <a:chOff x="0" y="0"/>
          <a:chExt cx="0" cy="0"/>
        </a:xfrm>
      </p:grpSpPr>
      <p:sp>
        <p:nvSpPr>
          <p:cNvPr id="22" name="Google Shape;22;p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lnSpc>
                <a:spcPct val="100000"/>
              </a:lnSpc>
              <a:spcBef>
                <a:spcPts val="0"/>
              </a:spcBef>
              <a:spcAft>
                <a:spcPts val="0"/>
              </a:spcAft>
              <a:buNone/>
              <a:defRPr sz="1400"/>
            </a:lvl1pPr>
            <a:lvl2pPr indent="0" lvl="1" marL="0" algn="r">
              <a:lnSpc>
                <a:spcPct val="100000"/>
              </a:lnSpc>
              <a:spcBef>
                <a:spcPts val="0"/>
              </a:spcBef>
              <a:spcAft>
                <a:spcPts val="0"/>
              </a:spcAft>
              <a:buNone/>
              <a:defRPr sz="1400"/>
            </a:lvl2pPr>
            <a:lvl3pPr indent="0" lvl="2" marL="0" algn="r">
              <a:lnSpc>
                <a:spcPct val="100000"/>
              </a:lnSpc>
              <a:spcBef>
                <a:spcPts val="0"/>
              </a:spcBef>
              <a:spcAft>
                <a:spcPts val="0"/>
              </a:spcAft>
              <a:buNone/>
              <a:defRPr sz="1400"/>
            </a:lvl3pPr>
            <a:lvl4pPr indent="0" lvl="3" marL="0" algn="r">
              <a:lnSpc>
                <a:spcPct val="100000"/>
              </a:lnSpc>
              <a:spcBef>
                <a:spcPts val="0"/>
              </a:spcBef>
              <a:spcAft>
                <a:spcPts val="0"/>
              </a:spcAft>
              <a:buNone/>
              <a:defRPr sz="1400"/>
            </a:lvl4pPr>
            <a:lvl5pPr indent="0" lvl="4" marL="0" algn="r">
              <a:lnSpc>
                <a:spcPct val="100000"/>
              </a:lnSpc>
              <a:spcBef>
                <a:spcPts val="0"/>
              </a:spcBef>
              <a:spcAft>
                <a:spcPts val="0"/>
              </a:spcAft>
              <a:buNone/>
              <a:defRPr sz="1400"/>
            </a:lvl5pPr>
            <a:lvl6pPr indent="0" lvl="5" marL="0" algn="r">
              <a:lnSpc>
                <a:spcPct val="100000"/>
              </a:lnSpc>
              <a:spcBef>
                <a:spcPts val="0"/>
              </a:spcBef>
              <a:spcAft>
                <a:spcPts val="0"/>
              </a:spcAft>
              <a:buNone/>
              <a:defRPr sz="1400"/>
            </a:lvl6pPr>
            <a:lvl7pPr indent="0" lvl="6" marL="0" algn="r">
              <a:lnSpc>
                <a:spcPct val="100000"/>
              </a:lnSpc>
              <a:spcBef>
                <a:spcPts val="0"/>
              </a:spcBef>
              <a:spcAft>
                <a:spcPts val="0"/>
              </a:spcAft>
              <a:buNone/>
              <a:defRPr sz="1400"/>
            </a:lvl7pPr>
            <a:lvl8pPr indent="0" lvl="7" marL="0" algn="r">
              <a:lnSpc>
                <a:spcPct val="100000"/>
              </a:lnSpc>
              <a:spcBef>
                <a:spcPts val="0"/>
              </a:spcBef>
              <a:spcAft>
                <a:spcPts val="0"/>
              </a:spcAft>
              <a:buNone/>
              <a:defRPr sz="1400"/>
            </a:lvl8pPr>
            <a:lvl9pPr indent="0" lvl="8" marL="0" algn="r">
              <a:lnSpc>
                <a:spcPct val="100000"/>
              </a:lnSpc>
              <a:spcBef>
                <a:spcPts val="0"/>
              </a:spcBef>
              <a:spcAft>
                <a:spcPts val="0"/>
              </a:spcAft>
              <a:buNone/>
              <a:defRPr sz="1400"/>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lnSpc>
                <a:spcPct val="100000"/>
              </a:lnSpc>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7" name="Google Shape;7;p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8" name="Google Shape;8;p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SzPts val="1400"/>
              <a:buNone/>
              <a:defRPr b="0" i="0" sz="1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9.png"/><Relationship Id="rId6"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 name="Shape 28"/>
        <p:cNvGrpSpPr/>
        <p:nvPr/>
      </p:nvGrpSpPr>
      <p:grpSpPr>
        <a:xfrm>
          <a:off x="0" y="0"/>
          <a:ext cx="0" cy="0"/>
          <a:chOff x="0" y="0"/>
          <a:chExt cx="0" cy="0"/>
        </a:xfrm>
      </p:grpSpPr>
      <p:sp>
        <p:nvSpPr>
          <p:cNvPr id="29" name="Google Shape;29;p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Introduction</a:t>
            </a:r>
            <a:endParaRPr/>
          </a:p>
        </p:txBody>
      </p:sp>
      <p:sp>
        <p:nvSpPr>
          <p:cNvPr id="30" name="Google Shape;30;p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cap="none" strike="noStrike">
                <a:solidFill>
                  <a:schemeClr val="dk1"/>
                </a:solidFill>
                <a:latin typeface="Arial"/>
                <a:ea typeface="Arial"/>
                <a:cs typeface="Arial"/>
                <a:sym typeface="Arial"/>
              </a:rPr>
              <a:t>Describe what panel data is and the reasons for using it in this format</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cap="none" strike="noStrike">
                <a:solidFill>
                  <a:schemeClr val="dk1"/>
                </a:solidFill>
                <a:latin typeface="Arial"/>
                <a:ea typeface="Arial"/>
                <a:cs typeface="Arial"/>
                <a:sym typeface="Arial"/>
              </a:rPr>
              <a:t>Assess the importance of fixed and random effects</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cap="none" strike="noStrike">
                <a:solidFill>
                  <a:schemeClr val="dk1"/>
                </a:solidFill>
                <a:latin typeface="Arial"/>
                <a:ea typeface="Arial"/>
                <a:cs typeface="Arial"/>
                <a:sym typeface="Arial"/>
              </a:rPr>
              <a:t>Examine the Hausman test, which determines if fixed or random effects should be used.</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cap="none" strike="noStrike">
                <a:solidFill>
                  <a:schemeClr val="dk1"/>
                </a:solidFill>
                <a:latin typeface="Arial"/>
                <a:ea typeface="Arial"/>
                <a:cs typeface="Arial"/>
                <a:sym typeface="Arial"/>
              </a:rPr>
              <a:t>Evaluate some panel data models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 name="Shape 34"/>
        <p:cNvGrpSpPr/>
        <p:nvPr/>
      </p:nvGrpSpPr>
      <p:grpSpPr>
        <a:xfrm>
          <a:off x="0" y="0"/>
          <a:ext cx="0" cy="0"/>
          <a:chOff x="0" y="0"/>
          <a:chExt cx="0" cy="0"/>
        </a:xfrm>
      </p:grpSpPr>
      <p:sp>
        <p:nvSpPr>
          <p:cNvPr id="35" name="Google Shape;35;p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Panel Data</a:t>
            </a:r>
            <a:endParaRPr/>
          </a:p>
        </p:txBody>
      </p:sp>
      <p:sp>
        <p:nvSpPr>
          <p:cNvPr id="36" name="Google Shape;36;p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1" i="0" lang="en-US" sz="3200" u="none" cap="none" strike="noStrike">
                <a:solidFill>
                  <a:schemeClr val="dk1"/>
                </a:solidFill>
                <a:latin typeface="Arial"/>
                <a:ea typeface="Arial"/>
                <a:cs typeface="Arial"/>
                <a:sym typeface="Arial"/>
              </a:rPr>
              <a:t>These are Models that Combine Cross-section and Time-Series Data</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cap="none" strike="noStrike">
                <a:solidFill>
                  <a:schemeClr val="dk1"/>
                </a:solidFill>
                <a:latin typeface="Arial"/>
                <a:ea typeface="Arial"/>
                <a:cs typeface="Arial"/>
                <a:sym typeface="Arial"/>
              </a:rPr>
              <a:t>In panel data the same cross-sectional unit (industry, firm, country) is surveyed over time, so we have data which is </a:t>
            </a:r>
            <a:r>
              <a:rPr b="0" i="1" lang="en-US" sz="3200" u="none" cap="none" strike="noStrike">
                <a:solidFill>
                  <a:schemeClr val="dk1"/>
                </a:solidFill>
                <a:latin typeface="Arial"/>
                <a:ea typeface="Arial"/>
                <a:cs typeface="Arial"/>
                <a:sym typeface="Arial"/>
              </a:rPr>
              <a:t>pooled </a:t>
            </a:r>
            <a:r>
              <a:rPr b="0" i="0" lang="en-US" sz="3200" u="none" cap="none" strike="noStrike">
                <a:solidFill>
                  <a:schemeClr val="dk1"/>
                </a:solidFill>
                <a:latin typeface="Arial"/>
                <a:ea typeface="Arial"/>
                <a:cs typeface="Arial"/>
                <a:sym typeface="Arial"/>
              </a:rPr>
              <a:t>over space as well as time.</a:t>
            </a:r>
            <a:endParaRPr/>
          </a:p>
          <a:p>
            <a:pPr indent="-139700" lvl="0" marL="342900" marR="0" rtl="0" algn="l">
              <a:lnSpc>
                <a:spcPct val="100000"/>
              </a:lnSpc>
              <a:spcBef>
                <a:spcPts val="640"/>
              </a:spcBef>
              <a:spcAft>
                <a:spcPts val="0"/>
              </a:spcAft>
              <a:buClr>
                <a:schemeClr val="dk1"/>
              </a:buClr>
              <a:buSzPts val="3200"/>
              <a:buFont typeface="Arial"/>
              <a:buNone/>
            </a:pPr>
            <a:r>
              <a:t/>
            </a:r>
            <a:endParaRPr b="0" i="0" sz="3200" u="non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Reasons for using Panel Data</a:t>
            </a:r>
            <a:endParaRPr/>
          </a:p>
        </p:txBody>
      </p:sp>
      <p:sp>
        <p:nvSpPr>
          <p:cNvPr id="42" name="Google Shape;42;p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1. Panel data can take explicit account of individual-specific heterogeneity (“individual” here means related to the microunit)</a:t>
            </a:r>
            <a:endParaRPr b="1" i="1" sz="2800" u="none">
              <a:solidFill>
                <a:schemeClr val="dk1"/>
              </a:solidFill>
              <a:latin typeface="Arial"/>
              <a:ea typeface="Arial"/>
              <a:cs typeface="Arial"/>
              <a:sym typeface="Arial"/>
            </a:endParaRPr>
          </a:p>
          <a:p>
            <a:pPr indent="-342900" lvl="0" marL="342900" marR="0" rtl="0" algn="l">
              <a:lnSpc>
                <a:spcPct val="9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2. By combining data in two dimensions, panel data gives more data variation, less collinearity and more degrees of freedom.</a:t>
            </a:r>
            <a:endParaRPr/>
          </a:p>
          <a:p>
            <a:pPr indent="-342900" lvl="0" marL="342900" marR="0" rtl="0" algn="l">
              <a:lnSpc>
                <a:spcPct val="90000"/>
              </a:lnSpc>
              <a:spcBef>
                <a:spcPts val="560"/>
              </a:spcBef>
              <a:spcAft>
                <a:spcPts val="0"/>
              </a:spcAft>
              <a:buClr>
                <a:schemeClr val="dk1"/>
              </a:buClr>
              <a:buSzPts val="2800"/>
              <a:buFont typeface="Arial"/>
              <a:buNone/>
            </a:pPr>
            <a:r>
              <a:rPr b="0" i="0" lang="en-US" sz="2800" u="none">
                <a:solidFill>
                  <a:schemeClr val="dk1"/>
                </a:solidFill>
                <a:latin typeface="Arial"/>
                <a:ea typeface="Arial"/>
                <a:cs typeface="Arial"/>
                <a:sym typeface="Arial"/>
              </a:rPr>
              <a:t>3. Panel data is better suited than cross-sectional data for studying the </a:t>
            </a:r>
            <a:r>
              <a:rPr b="0" i="1" lang="en-US" sz="2800" u="none">
                <a:solidFill>
                  <a:schemeClr val="dk1"/>
                </a:solidFill>
                <a:latin typeface="Arial"/>
                <a:ea typeface="Arial"/>
                <a:cs typeface="Arial"/>
                <a:sym typeface="Arial"/>
              </a:rPr>
              <a:t>dynamics of change</a:t>
            </a:r>
            <a:r>
              <a:rPr b="0" i="0" lang="en-US" sz="2800" u="none">
                <a:solidFill>
                  <a:schemeClr val="dk1"/>
                </a:solidFill>
                <a:latin typeface="Arial"/>
                <a:ea typeface="Arial"/>
                <a:cs typeface="Arial"/>
                <a:sym typeface="Arial"/>
              </a:rPr>
              <a:t>. For example it is well suited to understanding </a:t>
            </a:r>
            <a:r>
              <a:rPr b="0" i="1" lang="en-US" sz="2800" u="none">
                <a:solidFill>
                  <a:schemeClr val="dk1"/>
                </a:solidFill>
                <a:latin typeface="Arial"/>
                <a:ea typeface="Arial"/>
                <a:cs typeface="Arial"/>
                <a:sym typeface="Arial"/>
              </a:rPr>
              <a:t>transition</a:t>
            </a:r>
            <a:r>
              <a:rPr b="0" i="0" lang="en-US" sz="2800" u="none">
                <a:solidFill>
                  <a:schemeClr val="dk1"/>
                </a:solidFill>
                <a:latin typeface="Arial"/>
                <a:ea typeface="Arial"/>
                <a:cs typeface="Arial"/>
                <a:sym typeface="Arial"/>
              </a:rPr>
              <a:t> behaviour – for example company bankruptcy or merger.</a:t>
            </a:r>
            <a:endParaRPr/>
          </a:p>
          <a:p>
            <a:pPr indent="-165100" lvl="0" marL="342900" marR="0" rtl="0" algn="l">
              <a:lnSpc>
                <a:spcPct val="100000"/>
              </a:lnSpc>
              <a:spcBef>
                <a:spcPts val="560"/>
              </a:spcBef>
              <a:spcAft>
                <a:spcPts val="0"/>
              </a:spcAft>
              <a:buClr>
                <a:schemeClr val="dk1"/>
              </a:buClr>
              <a:buSzPts val="2800"/>
              <a:buFont typeface="Arial"/>
              <a:buNone/>
            </a:pPr>
            <a:r>
              <a:t/>
            </a:r>
            <a:endParaRPr b="0" i="0" sz="2800" u="non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 name="Shape 46"/>
        <p:cNvGrpSpPr/>
        <p:nvPr/>
      </p:nvGrpSpPr>
      <p:grpSpPr>
        <a:xfrm>
          <a:off x="0" y="0"/>
          <a:ext cx="0" cy="0"/>
          <a:chOff x="0" y="0"/>
          <a:chExt cx="0" cy="0"/>
        </a:xfrm>
      </p:grpSpPr>
      <p:sp>
        <p:nvSpPr>
          <p:cNvPr id="47" name="Google Shape;47;p8"/>
          <p:cNvSpPr txBox="1"/>
          <p:nvPr/>
        </p:nvSpPr>
        <p:spPr>
          <a:xfrm>
            <a:off x="501650" y="476250"/>
            <a:ext cx="8102600" cy="54546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200"/>
              <a:buFont typeface="Tahoma"/>
              <a:buNone/>
            </a:pPr>
            <a:r>
              <a:rPr b="0" i="0" lang="en-US" sz="3200" u="none" cap="none" strike="noStrike">
                <a:solidFill>
                  <a:schemeClr val="dk1"/>
                </a:solidFill>
                <a:latin typeface="Tahoma"/>
                <a:ea typeface="Tahoma"/>
                <a:cs typeface="Tahoma"/>
                <a:sym typeface="Tahoma"/>
              </a:rPr>
              <a:t>4. Panel data is better at detecting and measuring effects that cannot be observed in either cross-section or time-series data.</a:t>
            </a:r>
            <a:endParaRPr/>
          </a:p>
          <a:p>
            <a:pPr indent="0" lvl="0" marL="0" marR="0" rtl="0" algn="l">
              <a:lnSpc>
                <a:spcPct val="100000"/>
              </a:lnSpc>
              <a:spcBef>
                <a:spcPts val="1600"/>
              </a:spcBef>
              <a:spcAft>
                <a:spcPts val="0"/>
              </a:spcAft>
              <a:buClr>
                <a:schemeClr val="dk1"/>
              </a:buClr>
              <a:buSzPts val="3200"/>
              <a:buFont typeface="Tahoma"/>
              <a:buNone/>
            </a:pPr>
            <a:r>
              <a:rPr b="0" i="0" lang="en-US" sz="3200" u="none" cap="none" strike="noStrike">
                <a:solidFill>
                  <a:schemeClr val="dk1"/>
                </a:solidFill>
                <a:latin typeface="Tahoma"/>
                <a:ea typeface="Tahoma"/>
                <a:cs typeface="Tahoma"/>
                <a:sym typeface="Tahoma"/>
              </a:rPr>
              <a:t>5. Panel data enables the study of more complex behavioural models – for example the effects of technological change, or economic cycles.</a:t>
            </a:r>
            <a:endParaRPr/>
          </a:p>
          <a:p>
            <a:pPr indent="0" lvl="0" marL="0" marR="0" rtl="0" algn="l">
              <a:lnSpc>
                <a:spcPct val="100000"/>
              </a:lnSpc>
              <a:spcBef>
                <a:spcPts val="1600"/>
              </a:spcBef>
              <a:spcAft>
                <a:spcPts val="0"/>
              </a:spcAft>
              <a:buClr>
                <a:schemeClr val="dk1"/>
              </a:buClr>
              <a:buSzPts val="3200"/>
              <a:buFont typeface="Tahoma"/>
              <a:buNone/>
            </a:pPr>
            <a:r>
              <a:rPr b="0" i="0" lang="en-US" sz="3200" u="none" cap="none" strike="noStrike">
                <a:solidFill>
                  <a:schemeClr val="dk1"/>
                </a:solidFill>
                <a:latin typeface="Tahoma"/>
                <a:ea typeface="Tahoma"/>
                <a:cs typeface="Tahoma"/>
                <a:sym typeface="Tahoma"/>
              </a:rPr>
              <a:t>6. Panel data can minimise the effects of aggregation bias, from aggregating firms into broad groups</a:t>
            </a:r>
            <a:r>
              <a:rPr b="0" i="0" lang="en-US" sz="2400" u="none" cap="none" strike="noStrike">
                <a:solidFill>
                  <a:schemeClr val="dk1"/>
                </a:solidFill>
                <a:latin typeface="Tahoma"/>
                <a:ea typeface="Tahoma"/>
                <a:cs typeface="Tahoma"/>
                <a:sym typeface="Tahoma"/>
              </a:rPr>
              <a: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 name="Shape 51"/>
        <p:cNvGrpSpPr/>
        <p:nvPr/>
      </p:nvGrpSpPr>
      <p:grpSpPr>
        <a:xfrm>
          <a:off x="0" y="0"/>
          <a:ext cx="0" cy="0"/>
          <a:chOff x="0" y="0"/>
          <a:chExt cx="0" cy="0"/>
        </a:xfrm>
      </p:grpSpPr>
      <p:sp>
        <p:nvSpPr>
          <p:cNvPr id="52" name="Google Shape;52;p9"/>
          <p:cNvSpPr txBox="1"/>
          <p:nvPr/>
        </p:nvSpPr>
        <p:spPr>
          <a:xfrm>
            <a:off x="323850" y="404812"/>
            <a:ext cx="8569325" cy="11874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0" i="0" lang="en-US" sz="2400" u="none" cap="none" strike="noStrike">
                <a:solidFill>
                  <a:schemeClr val="dk1"/>
                </a:solidFill>
                <a:latin typeface="Tahoma"/>
                <a:ea typeface="Tahoma"/>
                <a:cs typeface="Tahoma"/>
                <a:sym typeface="Tahoma"/>
              </a:rPr>
              <a:t>If all the cross-sectional units have the same number of time series observations the panel is </a:t>
            </a:r>
            <a:r>
              <a:rPr b="0" i="1" lang="en-US" sz="2400" u="none" cap="none" strike="noStrike">
                <a:solidFill>
                  <a:schemeClr val="dk1"/>
                </a:solidFill>
                <a:latin typeface="Tahoma"/>
                <a:ea typeface="Tahoma"/>
                <a:cs typeface="Tahoma"/>
                <a:sym typeface="Tahoma"/>
              </a:rPr>
              <a:t>balanced</a:t>
            </a:r>
            <a:r>
              <a:rPr b="0" i="0" lang="en-US" sz="2400" u="none" cap="none" strike="noStrike">
                <a:solidFill>
                  <a:schemeClr val="dk1"/>
                </a:solidFill>
                <a:latin typeface="Tahoma"/>
                <a:ea typeface="Tahoma"/>
                <a:cs typeface="Tahoma"/>
                <a:sym typeface="Tahoma"/>
              </a:rPr>
              <a:t>, if not it is </a:t>
            </a:r>
            <a:r>
              <a:rPr b="0" i="1" lang="en-US" sz="2400" u="none" cap="none" strike="noStrike">
                <a:solidFill>
                  <a:schemeClr val="dk1"/>
                </a:solidFill>
                <a:latin typeface="Tahoma"/>
                <a:ea typeface="Tahoma"/>
                <a:cs typeface="Tahoma"/>
                <a:sym typeface="Tahoma"/>
              </a:rPr>
              <a:t>unbalanced</a:t>
            </a:r>
            <a:r>
              <a:rPr b="0" i="0" lang="en-US" sz="2400" u="none" cap="none" strike="noStrike">
                <a:solidFill>
                  <a:schemeClr val="dk1"/>
                </a:solidFill>
                <a:latin typeface="Tahoma"/>
                <a:ea typeface="Tahoma"/>
                <a:cs typeface="Tahoma"/>
                <a:sym typeface="Tahoma"/>
              </a:rPr>
              <a:t>.</a:t>
            </a:r>
            <a:endParaRPr/>
          </a:p>
        </p:txBody>
      </p:sp>
      <p:sp>
        <p:nvSpPr>
          <p:cNvPr id="53" name="Google Shape;53;p9"/>
          <p:cNvSpPr/>
          <p:nvPr/>
        </p:nvSpPr>
        <p:spPr>
          <a:xfrm>
            <a:off x="0" y="2300287"/>
            <a:ext cx="9144000" cy="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54" name="Google Shape;54;p9"/>
          <p:cNvPicPr preferRelativeResize="0"/>
          <p:nvPr/>
        </p:nvPicPr>
        <p:blipFill rotWithShape="1">
          <a:blip r:embed="rId3">
            <a:alphaModFix/>
          </a:blip>
          <a:srcRect b="0" l="0" r="0" t="0"/>
          <a:stretch/>
        </p:blipFill>
        <p:spPr>
          <a:xfrm>
            <a:off x="2484437" y="2133600"/>
            <a:ext cx="3619500" cy="2257425"/>
          </a:xfrm>
          <a:prstGeom prst="rect">
            <a:avLst/>
          </a:prstGeom>
          <a:noFill/>
          <a:ln>
            <a:noFill/>
          </a:ln>
        </p:spPr>
      </p:pic>
      <p:sp>
        <p:nvSpPr>
          <p:cNvPr id="55" name="Google Shape;55;p9"/>
          <p:cNvSpPr txBox="1"/>
          <p:nvPr/>
        </p:nvSpPr>
        <p:spPr>
          <a:xfrm>
            <a:off x="1116012" y="2924175"/>
            <a:ext cx="1295400" cy="64135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Time series</a:t>
            </a:r>
            <a:endParaRPr/>
          </a:p>
        </p:txBody>
      </p:sp>
      <p:sp>
        <p:nvSpPr>
          <p:cNvPr id="56" name="Google Shape;56;p9"/>
          <p:cNvSpPr txBox="1"/>
          <p:nvPr/>
        </p:nvSpPr>
        <p:spPr>
          <a:xfrm>
            <a:off x="2916237" y="1700212"/>
            <a:ext cx="2735262" cy="3667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Cross section</a:t>
            </a:r>
            <a:endParaRPr/>
          </a:p>
        </p:txBody>
      </p:sp>
      <p:sp>
        <p:nvSpPr>
          <p:cNvPr id="57" name="Google Shape;57;p9"/>
          <p:cNvSpPr txBox="1"/>
          <p:nvPr/>
        </p:nvSpPr>
        <p:spPr>
          <a:xfrm>
            <a:off x="323850" y="4652962"/>
            <a:ext cx="8496300" cy="822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 a matrix of balanced panel data observations on variable </a:t>
            </a:r>
            <a:r>
              <a:rPr b="0" i="1" lang="en-US" sz="2400" u="none">
                <a:solidFill>
                  <a:schemeClr val="dk1"/>
                </a:solidFill>
                <a:latin typeface="Tahoma"/>
                <a:ea typeface="Tahoma"/>
                <a:cs typeface="Tahoma"/>
                <a:sym typeface="Tahoma"/>
              </a:rPr>
              <a:t>y</a:t>
            </a:r>
            <a:r>
              <a:rPr b="0" i="0" lang="en-US" sz="2400" u="none">
                <a:solidFill>
                  <a:schemeClr val="dk1"/>
                </a:solidFill>
                <a:latin typeface="Tahoma"/>
                <a:ea typeface="Tahoma"/>
                <a:cs typeface="Tahoma"/>
                <a:sym typeface="Tahoma"/>
              </a:rPr>
              <a:t>, </a:t>
            </a:r>
            <a:r>
              <a:rPr b="0" i="1" lang="en-US" sz="2400" u="none">
                <a:solidFill>
                  <a:schemeClr val="dk1"/>
                </a:solidFill>
                <a:latin typeface="Tahoma"/>
                <a:ea typeface="Tahoma"/>
                <a:cs typeface="Tahoma"/>
                <a:sym typeface="Tahoma"/>
              </a:rPr>
              <a:t>N</a:t>
            </a:r>
            <a:r>
              <a:rPr b="0" i="0" lang="en-US" sz="2400" u="none">
                <a:solidFill>
                  <a:schemeClr val="dk1"/>
                </a:solidFill>
                <a:latin typeface="Tahoma"/>
                <a:ea typeface="Tahoma"/>
                <a:cs typeface="Tahoma"/>
                <a:sym typeface="Tahoma"/>
              </a:rPr>
              <a:t> cross-sectional observations, </a:t>
            </a:r>
            <a:r>
              <a:rPr b="0" i="1" lang="en-US" sz="2400" u="none">
                <a:solidFill>
                  <a:schemeClr val="dk1"/>
                </a:solidFill>
                <a:latin typeface="Tahoma"/>
                <a:ea typeface="Tahoma"/>
                <a:cs typeface="Tahoma"/>
                <a:sym typeface="Tahoma"/>
              </a:rPr>
              <a:t>T</a:t>
            </a:r>
            <a:r>
              <a:rPr b="0" i="0" lang="en-US" sz="2400" u="none">
                <a:solidFill>
                  <a:schemeClr val="dk1"/>
                </a:solidFill>
                <a:latin typeface="Tahoma"/>
                <a:ea typeface="Tahoma"/>
                <a:cs typeface="Tahoma"/>
                <a:sym typeface="Tahoma"/>
              </a:rPr>
              <a:t>  time series observations.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1" name="Shape 61"/>
        <p:cNvGrpSpPr/>
        <p:nvPr/>
      </p:nvGrpSpPr>
      <p:grpSpPr>
        <a:xfrm>
          <a:off x="0" y="0"/>
          <a:ext cx="0" cy="0"/>
          <a:chOff x="0" y="0"/>
          <a:chExt cx="0" cy="0"/>
        </a:xfrm>
      </p:grpSpPr>
      <p:sp>
        <p:nvSpPr>
          <p:cNvPr id="62" name="Google Shape;62;p10"/>
          <p:cNvSpPr txBox="1"/>
          <p:nvPr/>
        </p:nvSpPr>
        <p:spPr>
          <a:xfrm>
            <a:off x="250825" y="549275"/>
            <a:ext cx="8642350" cy="44735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Suppose </a:t>
            </a:r>
            <a:r>
              <a:rPr b="0" i="1" lang="en-US" sz="2400" u="none">
                <a:solidFill>
                  <a:schemeClr val="dk1"/>
                </a:solidFill>
                <a:latin typeface="Tahoma"/>
                <a:ea typeface="Tahoma"/>
                <a:cs typeface="Tahoma"/>
                <a:sym typeface="Tahoma"/>
              </a:rPr>
              <a:t>y</a:t>
            </a:r>
            <a:r>
              <a:rPr b="0" i="0" lang="en-US" sz="2400" u="none">
                <a:solidFill>
                  <a:schemeClr val="dk1"/>
                </a:solidFill>
                <a:latin typeface="Tahoma"/>
                <a:ea typeface="Tahoma"/>
                <a:cs typeface="Tahoma"/>
                <a:sym typeface="Tahoma"/>
              </a:rPr>
              <a:t> is investment and </a:t>
            </a:r>
            <a:r>
              <a:rPr b="0" i="1" lang="en-US" sz="2400" u="none">
                <a:solidFill>
                  <a:schemeClr val="dk1"/>
                </a:solidFill>
                <a:latin typeface="Tahoma"/>
                <a:ea typeface="Tahoma"/>
                <a:cs typeface="Tahoma"/>
                <a:sym typeface="Tahoma"/>
              </a:rPr>
              <a:t>x</a:t>
            </a:r>
            <a:r>
              <a:rPr b="0" i="0" lang="en-US" sz="2400" u="none">
                <a:solidFill>
                  <a:schemeClr val="dk1"/>
                </a:solidFill>
                <a:latin typeface="Tahoma"/>
                <a:ea typeface="Tahoma"/>
                <a:cs typeface="Tahoma"/>
                <a:sym typeface="Tahoma"/>
              </a:rPr>
              <a:t> is a measure of profit. We have </a:t>
            </a:r>
            <a:r>
              <a:rPr b="0" i="1" lang="en-US" sz="2400" u="none">
                <a:solidFill>
                  <a:schemeClr val="dk1"/>
                </a:solidFill>
                <a:latin typeface="Tahoma"/>
                <a:ea typeface="Tahoma"/>
                <a:cs typeface="Tahoma"/>
                <a:sym typeface="Tahoma"/>
              </a:rPr>
              <a:t>i</a:t>
            </a:r>
            <a:r>
              <a:rPr b="0" i="0" lang="en-US" sz="2400" u="none">
                <a:solidFill>
                  <a:schemeClr val="dk1"/>
                </a:solidFill>
                <a:latin typeface="Tahoma"/>
                <a:ea typeface="Tahoma"/>
                <a:cs typeface="Tahoma"/>
                <a:sym typeface="Tahoma"/>
              </a:rPr>
              <a:t> = 1…n companies and </a:t>
            </a:r>
            <a:r>
              <a:rPr b="0" i="1" lang="en-US" sz="2400" u="none">
                <a:solidFill>
                  <a:schemeClr val="dk1"/>
                </a:solidFill>
                <a:latin typeface="Tahoma"/>
                <a:ea typeface="Tahoma"/>
                <a:cs typeface="Tahoma"/>
                <a:sym typeface="Tahoma"/>
              </a:rPr>
              <a:t>t</a:t>
            </a:r>
            <a:r>
              <a:rPr b="0" i="0" lang="en-US" sz="2400" u="none">
                <a:solidFill>
                  <a:schemeClr val="dk1"/>
                </a:solidFill>
                <a:latin typeface="Tahoma"/>
                <a:ea typeface="Tahoma"/>
                <a:cs typeface="Tahoma"/>
                <a:sym typeface="Tahoma"/>
              </a:rPr>
              <a:t> = 1…</a:t>
            </a:r>
            <a:r>
              <a:rPr b="0" i="1" lang="en-US" sz="2400" u="none">
                <a:solidFill>
                  <a:schemeClr val="dk1"/>
                </a:solidFill>
                <a:latin typeface="Tahoma"/>
                <a:ea typeface="Tahoma"/>
                <a:cs typeface="Tahoma"/>
                <a:sym typeface="Tahoma"/>
              </a:rPr>
              <a:t>T</a:t>
            </a:r>
            <a:r>
              <a:rPr b="0" i="0" lang="en-US" sz="2400" u="none">
                <a:solidFill>
                  <a:schemeClr val="dk1"/>
                </a:solidFill>
                <a:latin typeface="Tahoma"/>
                <a:ea typeface="Tahoma"/>
                <a:cs typeface="Tahoma"/>
                <a:sym typeface="Tahoma"/>
              </a:rPr>
              <a:t>  time periods. Suppose we specify a simple econometric model which says that investment depends on profit:</a:t>
            </a:r>
            <a:endParaRPr/>
          </a:p>
          <a:p>
            <a:pPr indent="0" lvl="0" marL="0" marR="0" rtl="0" algn="l">
              <a:lnSpc>
                <a:spcPct val="100000"/>
              </a:lnSpc>
              <a:spcBef>
                <a:spcPts val="1200"/>
              </a:spcBef>
              <a:spcAft>
                <a:spcPts val="0"/>
              </a:spcAft>
              <a:buClr>
                <a:schemeClr val="dk1"/>
              </a:buClr>
              <a:buSzPts val="2400"/>
              <a:buFont typeface="Arial"/>
              <a:buNone/>
            </a:pPr>
            <a:r>
              <a:t/>
            </a:r>
            <a:endParaRPr b="0" i="0" sz="2400" u="none">
              <a:solidFill>
                <a:schemeClr val="dk1"/>
              </a:solidFill>
              <a:latin typeface="Tahoma"/>
              <a:ea typeface="Tahoma"/>
              <a:cs typeface="Tahoma"/>
              <a:sym typeface="Tahoma"/>
            </a:endParaRPr>
          </a:p>
          <a:p>
            <a:pPr indent="0" lvl="0" marL="0" marR="0" rtl="0" algn="l">
              <a:lnSpc>
                <a:spcPct val="100000"/>
              </a:lnSpc>
              <a:spcBef>
                <a:spcPts val="1200"/>
              </a:spcBef>
              <a:spcAft>
                <a:spcPts val="0"/>
              </a:spcAft>
              <a:buClr>
                <a:schemeClr val="dk1"/>
              </a:buClr>
              <a:buSzPts val="2400"/>
              <a:buFont typeface="Tahoma"/>
              <a:buNone/>
            </a:pPr>
            <a:r>
              <a:rPr b="0" i="1" lang="en-US" sz="2400" u="none">
                <a:solidFill>
                  <a:schemeClr val="dk1"/>
                </a:solidFill>
                <a:latin typeface="Tahoma"/>
                <a:ea typeface="Tahoma"/>
                <a:cs typeface="Tahoma"/>
                <a:sym typeface="Tahoma"/>
              </a:rPr>
              <a:t>u</a:t>
            </a:r>
            <a:r>
              <a:rPr b="0" baseline="-25000" i="1" lang="en-US" sz="2400" u="none">
                <a:solidFill>
                  <a:schemeClr val="dk1"/>
                </a:solidFill>
                <a:latin typeface="Tahoma"/>
                <a:ea typeface="Tahoma"/>
                <a:cs typeface="Tahoma"/>
                <a:sym typeface="Tahoma"/>
              </a:rPr>
              <a:t>it</a:t>
            </a:r>
            <a:r>
              <a:rPr b="0" i="0" lang="en-US" sz="2400" u="none">
                <a:solidFill>
                  <a:schemeClr val="dk1"/>
                </a:solidFill>
                <a:latin typeface="Tahoma"/>
                <a:ea typeface="Tahoma"/>
                <a:cs typeface="Tahoma"/>
                <a:sym typeface="Tahoma"/>
              </a:rPr>
              <a:t> is a random error term: </a:t>
            </a:r>
            <a:r>
              <a:rPr b="0" i="1" lang="en-US" sz="2400" u="none">
                <a:solidFill>
                  <a:schemeClr val="dk1"/>
                </a:solidFill>
                <a:latin typeface="Tahoma"/>
                <a:ea typeface="Tahoma"/>
                <a:cs typeface="Tahoma"/>
                <a:sym typeface="Tahoma"/>
              </a:rPr>
              <a:t>E </a:t>
            </a:r>
            <a:r>
              <a:rPr b="0" i="0" lang="en-US" sz="2400" u="none">
                <a:solidFill>
                  <a:schemeClr val="dk1"/>
                </a:solidFill>
                <a:latin typeface="Tahoma"/>
                <a:ea typeface="Tahoma"/>
                <a:cs typeface="Tahoma"/>
                <a:sym typeface="Tahoma"/>
              </a:rPr>
              <a:t>(</a:t>
            </a:r>
            <a:r>
              <a:rPr b="0" i="1" lang="en-US" sz="2400" u="none">
                <a:solidFill>
                  <a:schemeClr val="dk1"/>
                </a:solidFill>
                <a:latin typeface="Tahoma"/>
                <a:ea typeface="Tahoma"/>
                <a:cs typeface="Tahoma"/>
                <a:sym typeface="Tahoma"/>
              </a:rPr>
              <a:t>u</a:t>
            </a:r>
            <a:r>
              <a:rPr b="0" baseline="-25000" i="1" lang="en-US" sz="2400" u="none">
                <a:solidFill>
                  <a:schemeClr val="dk1"/>
                </a:solidFill>
                <a:latin typeface="Tahoma"/>
                <a:ea typeface="Tahoma"/>
                <a:cs typeface="Tahoma"/>
                <a:sym typeface="Tahoma"/>
              </a:rPr>
              <a:t>it</a:t>
            </a:r>
            <a:r>
              <a:rPr b="0" i="0" lang="en-US" sz="2400" u="none">
                <a:solidFill>
                  <a:schemeClr val="dk1"/>
                </a:solidFill>
                <a:latin typeface="Tahoma"/>
                <a:ea typeface="Tahoma"/>
                <a:cs typeface="Tahoma"/>
                <a:sym typeface="Tahoma"/>
              </a:rPr>
              <a:t> ) ~ </a:t>
            </a:r>
            <a:r>
              <a:rPr b="0" i="1" lang="en-US" sz="2400" u="none">
                <a:solidFill>
                  <a:schemeClr val="dk1"/>
                </a:solidFill>
                <a:latin typeface="Tahoma"/>
                <a:ea typeface="Tahoma"/>
                <a:cs typeface="Tahoma"/>
                <a:sym typeface="Tahoma"/>
              </a:rPr>
              <a:t>N</a:t>
            </a:r>
            <a:r>
              <a:rPr b="0" i="0" lang="en-US" sz="2400" u="none">
                <a:solidFill>
                  <a:schemeClr val="dk1"/>
                </a:solidFill>
                <a:latin typeface="Tahoma"/>
                <a:ea typeface="Tahoma"/>
                <a:cs typeface="Tahoma"/>
                <a:sym typeface="Tahoma"/>
              </a:rPr>
              <a:t> (0, </a:t>
            </a:r>
            <a:r>
              <a:rPr b="0" i="1" lang="en-US" sz="2400" u="none">
                <a:solidFill>
                  <a:schemeClr val="dk1"/>
                </a:solidFill>
                <a:latin typeface="Tahoma"/>
                <a:ea typeface="Tahoma"/>
                <a:cs typeface="Tahoma"/>
                <a:sym typeface="Tahoma"/>
              </a:rPr>
              <a:t>σ</a:t>
            </a:r>
            <a:r>
              <a:rPr b="0" baseline="30000" i="0" lang="en-US" sz="2400" u="none">
                <a:solidFill>
                  <a:schemeClr val="dk1"/>
                </a:solidFill>
                <a:latin typeface="Tahoma"/>
                <a:ea typeface="Tahoma"/>
                <a:cs typeface="Tahoma"/>
                <a:sym typeface="Tahoma"/>
              </a:rPr>
              <a:t>2</a:t>
            </a:r>
            <a:r>
              <a:rPr b="0" i="0" lang="en-US" sz="2400" u="none">
                <a:solidFill>
                  <a:schemeClr val="dk1"/>
                </a:solidFill>
                <a:latin typeface="Tahoma"/>
                <a:ea typeface="Tahoma"/>
                <a:cs typeface="Tahoma"/>
                <a:sym typeface="Tahoma"/>
              </a:rPr>
              <a:t>)</a:t>
            </a:r>
            <a:endParaRPr/>
          </a:p>
          <a:p>
            <a:pPr indent="0" lvl="0" marL="0" marR="0" rtl="0" algn="l">
              <a:lnSpc>
                <a:spcPct val="100000"/>
              </a:lnSpc>
              <a:spcBef>
                <a:spcPts val="1200"/>
              </a:spcBef>
              <a:spcAft>
                <a:spcPts val="0"/>
              </a:spcAft>
              <a:buClr>
                <a:schemeClr val="dk1"/>
              </a:buClr>
              <a:buSzPts val="2400"/>
              <a:buFont typeface="Arial"/>
              <a:buNone/>
            </a:pPr>
            <a:r>
              <a:t/>
            </a:r>
            <a:endParaRPr b="0" i="0" sz="2400" u="none">
              <a:solidFill>
                <a:schemeClr val="dk1"/>
              </a:solidFill>
              <a:latin typeface="Tahoma"/>
              <a:ea typeface="Tahoma"/>
              <a:cs typeface="Tahoma"/>
              <a:sym typeface="Tahoma"/>
            </a:endParaRPr>
          </a:p>
          <a:p>
            <a:pPr indent="0" lvl="0" marL="0" marR="0" rtl="0" algn="l">
              <a:lnSpc>
                <a:spcPct val="100000"/>
              </a:lnSpc>
              <a:spcBef>
                <a:spcPts val="120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Estimation of (1) depends on the assumptions that we make about the intercept (</a:t>
            </a:r>
            <a:r>
              <a:rPr b="0" i="1" lang="en-US" sz="2400" u="none">
                <a:solidFill>
                  <a:schemeClr val="dk1"/>
                </a:solidFill>
                <a:latin typeface="Tahoma"/>
                <a:ea typeface="Tahoma"/>
                <a:cs typeface="Tahoma"/>
                <a:sym typeface="Tahoma"/>
              </a:rPr>
              <a:t>a</a:t>
            </a:r>
            <a:r>
              <a:rPr b="0" baseline="-25000" i="0" lang="en-US" sz="2400" u="none">
                <a:solidFill>
                  <a:schemeClr val="dk1"/>
                </a:solidFill>
                <a:latin typeface="Tahoma"/>
                <a:ea typeface="Tahoma"/>
                <a:cs typeface="Tahoma"/>
                <a:sym typeface="Tahoma"/>
              </a:rPr>
              <a:t>0</a:t>
            </a:r>
            <a:r>
              <a:rPr b="0" i="0" lang="en-US" sz="2400" u="none">
                <a:solidFill>
                  <a:schemeClr val="dk1"/>
                </a:solidFill>
                <a:latin typeface="Tahoma"/>
                <a:ea typeface="Tahoma"/>
                <a:cs typeface="Tahoma"/>
                <a:sym typeface="Tahoma"/>
              </a:rPr>
              <a:t>), the slope coefficient (</a:t>
            </a:r>
            <a:r>
              <a:rPr b="0" i="1" lang="en-US" sz="2400" u="none">
                <a:solidFill>
                  <a:schemeClr val="dk1"/>
                </a:solidFill>
                <a:latin typeface="Tahoma"/>
                <a:ea typeface="Tahoma"/>
                <a:cs typeface="Tahoma"/>
                <a:sym typeface="Tahoma"/>
              </a:rPr>
              <a:t>a</a:t>
            </a:r>
            <a:r>
              <a:rPr b="0" baseline="-25000" i="0" lang="en-US" sz="2400" u="none">
                <a:solidFill>
                  <a:schemeClr val="dk1"/>
                </a:solidFill>
                <a:latin typeface="Tahoma"/>
                <a:ea typeface="Tahoma"/>
                <a:cs typeface="Tahoma"/>
                <a:sym typeface="Tahoma"/>
              </a:rPr>
              <a:t>1</a:t>
            </a:r>
            <a:r>
              <a:rPr b="0" i="0" lang="en-US" sz="2400" u="none">
                <a:solidFill>
                  <a:schemeClr val="dk1"/>
                </a:solidFill>
                <a:latin typeface="Tahoma"/>
                <a:ea typeface="Tahoma"/>
                <a:cs typeface="Tahoma"/>
                <a:sym typeface="Tahoma"/>
              </a:rPr>
              <a:t>) and the error term (</a:t>
            </a:r>
            <a:r>
              <a:rPr b="0" i="1" lang="en-US" sz="2400" u="none">
                <a:solidFill>
                  <a:schemeClr val="dk1"/>
                </a:solidFill>
                <a:latin typeface="Tahoma"/>
                <a:ea typeface="Tahoma"/>
                <a:cs typeface="Tahoma"/>
                <a:sym typeface="Tahoma"/>
              </a:rPr>
              <a:t>u</a:t>
            </a:r>
            <a:r>
              <a:rPr b="0" baseline="-25000" i="1" lang="en-US" sz="2400" u="none">
                <a:solidFill>
                  <a:schemeClr val="dk1"/>
                </a:solidFill>
                <a:latin typeface="Tahoma"/>
                <a:ea typeface="Tahoma"/>
                <a:cs typeface="Tahoma"/>
                <a:sym typeface="Tahoma"/>
              </a:rPr>
              <a:t>it</a:t>
            </a:r>
            <a:r>
              <a:rPr b="0" baseline="-25000" i="0" lang="en-US" sz="2400" u="none">
                <a:solidFill>
                  <a:schemeClr val="dk1"/>
                </a:solidFill>
                <a:latin typeface="Tahoma"/>
                <a:ea typeface="Tahoma"/>
                <a:cs typeface="Tahoma"/>
                <a:sym typeface="Tahoma"/>
              </a:rPr>
              <a:t> </a:t>
            </a:r>
            <a:r>
              <a:rPr b="0" i="0" lang="en-US" sz="2400" u="none">
                <a:solidFill>
                  <a:schemeClr val="dk1"/>
                </a:solidFill>
                <a:latin typeface="Tahoma"/>
                <a:ea typeface="Tahoma"/>
                <a:cs typeface="Tahoma"/>
                <a:sym typeface="Tahoma"/>
              </a:rPr>
              <a:t>).</a:t>
            </a:r>
            <a:endParaRPr/>
          </a:p>
        </p:txBody>
      </p:sp>
      <p:sp>
        <p:nvSpPr>
          <p:cNvPr id="63" name="Google Shape;63;p10"/>
          <p:cNvSpPr/>
          <p:nvPr/>
        </p:nvSpPr>
        <p:spPr>
          <a:xfrm>
            <a:off x="0" y="3262312"/>
            <a:ext cx="9144000" cy="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64" name="Google Shape;64;p10"/>
          <p:cNvPicPr preferRelativeResize="0"/>
          <p:nvPr/>
        </p:nvPicPr>
        <p:blipFill rotWithShape="1">
          <a:blip r:embed="rId3">
            <a:alphaModFix/>
          </a:blip>
          <a:srcRect b="0" l="0" r="0" t="0"/>
          <a:stretch/>
        </p:blipFill>
        <p:spPr>
          <a:xfrm>
            <a:off x="2865437" y="2276475"/>
            <a:ext cx="3551237" cy="3333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8" name="Shape 68"/>
        <p:cNvGrpSpPr/>
        <p:nvPr/>
      </p:nvGrpSpPr>
      <p:grpSpPr>
        <a:xfrm>
          <a:off x="0" y="0"/>
          <a:ext cx="0" cy="0"/>
          <a:chOff x="0" y="0"/>
          <a:chExt cx="0" cy="0"/>
        </a:xfrm>
      </p:grpSpPr>
      <p:sp>
        <p:nvSpPr>
          <p:cNvPr id="69" name="Google Shape;69;p11"/>
          <p:cNvSpPr txBox="1"/>
          <p:nvPr/>
        </p:nvSpPr>
        <p:spPr>
          <a:xfrm>
            <a:off x="250825" y="404812"/>
            <a:ext cx="8642350" cy="5021262"/>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Several possible assumptions can be made in order to estimate (1):</a:t>
            </a:r>
            <a:endParaRPr/>
          </a:p>
          <a:p>
            <a:pPr indent="-342900" lvl="0" marL="342900" marR="0" rtl="0" algn="l">
              <a:lnSpc>
                <a:spcPct val="100000"/>
              </a:lnSpc>
              <a:spcBef>
                <a:spcPts val="120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1. Assume that the intercept and slope coefficients are constant across time and firms and that the error term captures differences over time and over firms.</a:t>
            </a:r>
            <a:endParaRPr/>
          </a:p>
          <a:p>
            <a:pPr indent="-342900" lvl="0" marL="342900" marR="0" rtl="0" algn="l">
              <a:lnSpc>
                <a:spcPct val="100000"/>
              </a:lnSpc>
              <a:spcBef>
                <a:spcPts val="120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2. The slope coefficient is constant but the intercept varies over firms.</a:t>
            </a:r>
            <a:endParaRPr/>
          </a:p>
          <a:p>
            <a:pPr indent="-342900" lvl="0" marL="342900" marR="0" rtl="0" algn="l">
              <a:lnSpc>
                <a:spcPct val="100000"/>
              </a:lnSpc>
              <a:spcBef>
                <a:spcPts val="120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3. The slope coefficient is constant but the intercept varies over firms and over time.</a:t>
            </a:r>
            <a:endParaRPr/>
          </a:p>
          <a:p>
            <a:pPr indent="-342900" lvl="0" marL="342900" marR="0" rtl="0" algn="l">
              <a:lnSpc>
                <a:spcPct val="100000"/>
              </a:lnSpc>
              <a:spcBef>
                <a:spcPts val="120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4. All coefficients (intercept and slope) vary over firms.</a:t>
            </a:r>
            <a:endParaRPr/>
          </a:p>
          <a:p>
            <a:pPr indent="-342900" lvl="0" marL="342900" marR="0" rtl="0" algn="l">
              <a:lnSpc>
                <a:spcPct val="100000"/>
              </a:lnSpc>
              <a:spcBef>
                <a:spcPts val="120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5. The intercept as well as the slope vary over firms and time.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 name="Shape 73"/>
        <p:cNvGrpSpPr/>
        <p:nvPr/>
      </p:nvGrpSpPr>
      <p:grpSpPr>
        <a:xfrm>
          <a:off x="0" y="0"/>
          <a:ext cx="0" cy="0"/>
          <a:chOff x="0" y="0"/>
          <a:chExt cx="0" cy="0"/>
        </a:xfrm>
      </p:grpSpPr>
      <p:sp>
        <p:nvSpPr>
          <p:cNvPr id="74" name="Google Shape;74;p12"/>
          <p:cNvSpPr txBox="1"/>
          <p:nvPr/>
        </p:nvSpPr>
        <p:spPr>
          <a:xfrm>
            <a:off x="250825" y="404812"/>
            <a:ext cx="8642350" cy="13700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0" i="1" lang="en-US" sz="2400" u="none">
                <a:solidFill>
                  <a:schemeClr val="dk1"/>
                </a:solidFill>
                <a:latin typeface="Tahoma"/>
                <a:ea typeface="Tahoma"/>
                <a:cs typeface="Tahoma"/>
                <a:sym typeface="Tahoma"/>
              </a:rPr>
              <a:t>Pooled regression by OLS</a:t>
            </a:r>
            <a:endParaRPr/>
          </a:p>
          <a:p>
            <a:pPr indent="0" lvl="0" marL="0" marR="0" rtl="0" algn="l">
              <a:lnSpc>
                <a:spcPct val="100000"/>
              </a:lnSpc>
              <a:spcBef>
                <a:spcPts val="120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This is estimation option 1 on the list. But pooled regression may result in </a:t>
            </a:r>
            <a:r>
              <a:rPr b="0" i="1" lang="en-US" sz="2400" u="none">
                <a:solidFill>
                  <a:schemeClr val="dk1"/>
                </a:solidFill>
                <a:latin typeface="Tahoma"/>
                <a:ea typeface="Tahoma"/>
                <a:cs typeface="Tahoma"/>
                <a:sym typeface="Tahoma"/>
              </a:rPr>
              <a:t>heterogeneity bias</a:t>
            </a:r>
            <a:r>
              <a:rPr b="0" i="0" lang="en-US" sz="2400" u="none">
                <a:solidFill>
                  <a:schemeClr val="dk1"/>
                </a:solidFill>
                <a:latin typeface="Tahoma"/>
                <a:ea typeface="Tahoma"/>
                <a:cs typeface="Tahoma"/>
                <a:sym typeface="Tahoma"/>
              </a:rPr>
              <a:t> :</a:t>
            </a:r>
            <a:endParaRPr/>
          </a:p>
        </p:txBody>
      </p:sp>
      <p:cxnSp>
        <p:nvCxnSpPr>
          <p:cNvPr id="75" name="Google Shape;75;p12"/>
          <p:cNvCxnSpPr/>
          <p:nvPr/>
        </p:nvCxnSpPr>
        <p:spPr>
          <a:xfrm>
            <a:off x="827087" y="2133600"/>
            <a:ext cx="0" cy="3959225"/>
          </a:xfrm>
          <a:prstGeom prst="straightConnector1">
            <a:avLst/>
          </a:prstGeom>
          <a:noFill/>
          <a:ln cap="flat" cmpd="sng" w="9525">
            <a:solidFill>
              <a:schemeClr val="dk1"/>
            </a:solidFill>
            <a:prstDash val="solid"/>
            <a:miter lim="800000"/>
            <a:headEnd len="med" w="med" type="none"/>
            <a:tailEnd len="med" w="med" type="none"/>
          </a:ln>
        </p:spPr>
      </p:cxnSp>
      <p:cxnSp>
        <p:nvCxnSpPr>
          <p:cNvPr id="76" name="Google Shape;76;p12"/>
          <p:cNvCxnSpPr/>
          <p:nvPr/>
        </p:nvCxnSpPr>
        <p:spPr>
          <a:xfrm>
            <a:off x="827087" y="6092825"/>
            <a:ext cx="6265862" cy="0"/>
          </a:xfrm>
          <a:prstGeom prst="straightConnector1">
            <a:avLst/>
          </a:prstGeom>
          <a:noFill/>
          <a:ln cap="flat" cmpd="sng" w="9525">
            <a:solidFill>
              <a:schemeClr val="dk1"/>
            </a:solidFill>
            <a:prstDash val="solid"/>
            <a:miter lim="800000"/>
            <a:headEnd len="med" w="med" type="none"/>
            <a:tailEnd len="med" w="med" type="none"/>
          </a:ln>
        </p:spPr>
      </p:cxnSp>
      <p:cxnSp>
        <p:nvCxnSpPr>
          <p:cNvPr id="77" name="Google Shape;77;p12"/>
          <p:cNvCxnSpPr/>
          <p:nvPr/>
        </p:nvCxnSpPr>
        <p:spPr>
          <a:xfrm flipH="1" rot="10800000">
            <a:off x="827087" y="2349500"/>
            <a:ext cx="5761037" cy="3240087"/>
          </a:xfrm>
          <a:prstGeom prst="straightConnector1">
            <a:avLst/>
          </a:prstGeom>
          <a:noFill/>
          <a:ln cap="flat" cmpd="sng" w="25400">
            <a:solidFill>
              <a:schemeClr val="dk1"/>
            </a:solidFill>
            <a:prstDash val="solid"/>
            <a:miter lim="800000"/>
            <a:headEnd len="med" w="med" type="none"/>
            <a:tailEnd len="med" w="med" type="none"/>
          </a:ln>
        </p:spPr>
      </p:cxnSp>
      <p:cxnSp>
        <p:nvCxnSpPr>
          <p:cNvPr id="78" name="Google Shape;78;p12"/>
          <p:cNvCxnSpPr/>
          <p:nvPr/>
        </p:nvCxnSpPr>
        <p:spPr>
          <a:xfrm flipH="1" rot="10800000">
            <a:off x="1042987" y="4941887"/>
            <a:ext cx="1873250" cy="215900"/>
          </a:xfrm>
          <a:prstGeom prst="straightConnector1">
            <a:avLst/>
          </a:prstGeom>
          <a:noFill/>
          <a:ln cap="flat" cmpd="sng" w="19050">
            <a:solidFill>
              <a:srgbClr val="FF0000"/>
            </a:solidFill>
            <a:prstDash val="solid"/>
            <a:miter lim="800000"/>
            <a:headEnd len="med" w="med" type="none"/>
            <a:tailEnd len="med" w="med" type="none"/>
          </a:ln>
        </p:spPr>
      </p:cxnSp>
      <p:cxnSp>
        <p:nvCxnSpPr>
          <p:cNvPr id="79" name="Google Shape;79;p12"/>
          <p:cNvCxnSpPr/>
          <p:nvPr/>
        </p:nvCxnSpPr>
        <p:spPr>
          <a:xfrm flipH="1" rot="10800000">
            <a:off x="2051050" y="4221162"/>
            <a:ext cx="2159000" cy="287337"/>
          </a:xfrm>
          <a:prstGeom prst="straightConnector1">
            <a:avLst/>
          </a:prstGeom>
          <a:noFill/>
          <a:ln cap="flat" cmpd="sng" w="19050">
            <a:solidFill>
              <a:srgbClr val="FF0000"/>
            </a:solidFill>
            <a:prstDash val="solid"/>
            <a:miter lim="800000"/>
            <a:headEnd len="med" w="med" type="none"/>
            <a:tailEnd len="med" w="med" type="none"/>
          </a:ln>
        </p:spPr>
      </p:cxnSp>
      <p:cxnSp>
        <p:nvCxnSpPr>
          <p:cNvPr id="80" name="Google Shape;80;p12"/>
          <p:cNvCxnSpPr/>
          <p:nvPr/>
        </p:nvCxnSpPr>
        <p:spPr>
          <a:xfrm flipH="1" rot="10800000">
            <a:off x="3419475" y="3500437"/>
            <a:ext cx="1944687" cy="287337"/>
          </a:xfrm>
          <a:prstGeom prst="straightConnector1">
            <a:avLst/>
          </a:prstGeom>
          <a:noFill/>
          <a:ln cap="flat" cmpd="sng" w="19050">
            <a:solidFill>
              <a:srgbClr val="FF0000"/>
            </a:solidFill>
            <a:prstDash val="solid"/>
            <a:miter lim="800000"/>
            <a:headEnd len="med" w="med" type="none"/>
            <a:tailEnd len="med" w="med" type="none"/>
          </a:ln>
        </p:spPr>
      </p:cxnSp>
      <p:cxnSp>
        <p:nvCxnSpPr>
          <p:cNvPr id="81" name="Google Shape;81;p12"/>
          <p:cNvCxnSpPr/>
          <p:nvPr/>
        </p:nvCxnSpPr>
        <p:spPr>
          <a:xfrm flipH="1" rot="10800000">
            <a:off x="4500562" y="2852737"/>
            <a:ext cx="1944687" cy="287337"/>
          </a:xfrm>
          <a:prstGeom prst="straightConnector1">
            <a:avLst/>
          </a:prstGeom>
          <a:noFill/>
          <a:ln cap="flat" cmpd="sng" w="19050">
            <a:solidFill>
              <a:srgbClr val="FF0000"/>
            </a:solidFill>
            <a:prstDash val="solid"/>
            <a:miter lim="800000"/>
            <a:headEnd len="med" w="med" type="none"/>
            <a:tailEnd len="med" w="med" type="none"/>
          </a:ln>
        </p:spPr>
      </p:cxnSp>
      <p:sp>
        <p:nvSpPr>
          <p:cNvPr id="82" name="Google Shape;82;p12"/>
          <p:cNvSpPr txBox="1"/>
          <p:nvPr/>
        </p:nvSpPr>
        <p:spPr>
          <a:xfrm>
            <a:off x="6516687" y="1628775"/>
            <a:ext cx="2233612" cy="7794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Pooled regression:</a:t>
            </a:r>
            <a:endParaRPr/>
          </a:p>
          <a:p>
            <a:pPr indent="0" lvl="0" marL="0" marR="0" rtl="0" algn="l">
              <a:lnSpc>
                <a:spcPct val="100000"/>
              </a:lnSpc>
              <a:spcBef>
                <a:spcPts val="900"/>
              </a:spcBef>
              <a:spcAft>
                <a:spcPts val="0"/>
              </a:spcAft>
              <a:buClr>
                <a:schemeClr val="dk1"/>
              </a:buClr>
              <a:buSzPts val="1800"/>
              <a:buFont typeface="Tahoma"/>
              <a:buNone/>
            </a:pPr>
            <a:r>
              <a:rPr b="0" i="1" lang="en-US" sz="1800" u="none">
                <a:solidFill>
                  <a:schemeClr val="dk1"/>
                </a:solidFill>
                <a:latin typeface="Tahoma"/>
                <a:ea typeface="Tahoma"/>
                <a:cs typeface="Tahoma"/>
                <a:sym typeface="Tahoma"/>
              </a:rPr>
              <a:t>y</a:t>
            </a:r>
            <a:r>
              <a:rPr b="0" baseline="-25000" i="1" lang="en-US" sz="1800" u="none">
                <a:solidFill>
                  <a:schemeClr val="dk1"/>
                </a:solidFill>
                <a:latin typeface="Tahoma"/>
                <a:ea typeface="Tahoma"/>
                <a:cs typeface="Tahoma"/>
                <a:sym typeface="Tahoma"/>
              </a:rPr>
              <a:t>it</a:t>
            </a:r>
            <a:r>
              <a:rPr b="0" i="0" lang="en-US" sz="1800" u="none">
                <a:solidFill>
                  <a:schemeClr val="dk1"/>
                </a:solidFill>
                <a:latin typeface="Tahoma"/>
                <a:ea typeface="Tahoma"/>
                <a:cs typeface="Tahoma"/>
                <a:sym typeface="Tahoma"/>
              </a:rPr>
              <a:t>=</a:t>
            </a:r>
            <a:r>
              <a:rPr b="0" i="1" lang="en-US" sz="1800" u="none">
                <a:solidFill>
                  <a:schemeClr val="dk1"/>
                </a:solidFill>
                <a:latin typeface="Tahoma"/>
                <a:ea typeface="Tahoma"/>
                <a:cs typeface="Tahoma"/>
                <a:sym typeface="Tahoma"/>
              </a:rPr>
              <a:t>a</a:t>
            </a:r>
            <a:r>
              <a:rPr b="0" baseline="-25000" i="0" lang="en-US" sz="1800" u="none">
                <a:solidFill>
                  <a:schemeClr val="dk1"/>
                </a:solidFill>
                <a:latin typeface="Tahoma"/>
                <a:ea typeface="Tahoma"/>
                <a:cs typeface="Tahoma"/>
                <a:sym typeface="Tahoma"/>
              </a:rPr>
              <a:t>0</a:t>
            </a:r>
            <a:r>
              <a:rPr b="0" i="0" lang="en-US" sz="1800" u="none">
                <a:solidFill>
                  <a:schemeClr val="dk1"/>
                </a:solidFill>
                <a:latin typeface="Tahoma"/>
                <a:ea typeface="Tahoma"/>
                <a:cs typeface="Tahoma"/>
                <a:sym typeface="Tahoma"/>
              </a:rPr>
              <a:t>+</a:t>
            </a:r>
            <a:r>
              <a:rPr b="0" i="1" lang="en-US" sz="1800" u="none">
                <a:solidFill>
                  <a:schemeClr val="dk1"/>
                </a:solidFill>
                <a:latin typeface="Tahoma"/>
                <a:ea typeface="Tahoma"/>
                <a:cs typeface="Tahoma"/>
                <a:sym typeface="Tahoma"/>
              </a:rPr>
              <a:t>a</a:t>
            </a:r>
            <a:r>
              <a:rPr b="0" baseline="-25000" i="0" lang="en-US" sz="1800" u="none">
                <a:solidFill>
                  <a:schemeClr val="dk1"/>
                </a:solidFill>
                <a:latin typeface="Tahoma"/>
                <a:ea typeface="Tahoma"/>
                <a:cs typeface="Tahoma"/>
                <a:sym typeface="Tahoma"/>
              </a:rPr>
              <a:t>1</a:t>
            </a:r>
            <a:r>
              <a:rPr b="0" i="1" lang="en-US" sz="1800" u="none">
                <a:solidFill>
                  <a:schemeClr val="dk1"/>
                </a:solidFill>
                <a:latin typeface="Tahoma"/>
                <a:ea typeface="Tahoma"/>
                <a:cs typeface="Tahoma"/>
                <a:sym typeface="Tahoma"/>
              </a:rPr>
              <a:t>x</a:t>
            </a:r>
            <a:r>
              <a:rPr b="0" baseline="-25000" i="1" lang="en-US" sz="1800" u="none">
                <a:solidFill>
                  <a:schemeClr val="dk1"/>
                </a:solidFill>
                <a:latin typeface="Tahoma"/>
                <a:ea typeface="Tahoma"/>
                <a:cs typeface="Tahoma"/>
                <a:sym typeface="Tahoma"/>
              </a:rPr>
              <a:t>it</a:t>
            </a:r>
            <a:r>
              <a:rPr b="0" i="0" lang="en-US" sz="1800" u="none">
                <a:solidFill>
                  <a:schemeClr val="dk1"/>
                </a:solidFill>
                <a:latin typeface="Tahoma"/>
                <a:ea typeface="Tahoma"/>
                <a:cs typeface="Tahoma"/>
                <a:sym typeface="Tahoma"/>
              </a:rPr>
              <a:t>+</a:t>
            </a:r>
            <a:r>
              <a:rPr b="0" i="1" lang="en-US" sz="1800" u="none">
                <a:solidFill>
                  <a:schemeClr val="dk1"/>
                </a:solidFill>
                <a:latin typeface="Tahoma"/>
                <a:ea typeface="Tahoma"/>
                <a:cs typeface="Tahoma"/>
                <a:sym typeface="Tahoma"/>
              </a:rPr>
              <a:t>u</a:t>
            </a:r>
            <a:r>
              <a:rPr b="0" baseline="-25000" i="1" lang="en-US" sz="1800" u="none">
                <a:solidFill>
                  <a:schemeClr val="dk1"/>
                </a:solidFill>
                <a:latin typeface="Tahoma"/>
                <a:ea typeface="Tahoma"/>
                <a:cs typeface="Tahoma"/>
                <a:sym typeface="Tahoma"/>
              </a:rPr>
              <a:t>it</a:t>
            </a:r>
            <a:endParaRPr/>
          </a:p>
        </p:txBody>
      </p:sp>
      <p:sp>
        <p:nvSpPr>
          <p:cNvPr id="83" name="Google Shape;83;p12"/>
          <p:cNvSpPr txBox="1"/>
          <p:nvPr/>
        </p:nvSpPr>
        <p:spPr>
          <a:xfrm>
            <a:off x="2843212" y="4724400"/>
            <a:ext cx="2160587"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True model: Firm 1</a:t>
            </a:r>
            <a:endParaRPr/>
          </a:p>
        </p:txBody>
      </p:sp>
      <p:sp>
        <p:nvSpPr>
          <p:cNvPr id="84" name="Google Shape;84;p12"/>
          <p:cNvSpPr txBox="1"/>
          <p:nvPr/>
        </p:nvSpPr>
        <p:spPr>
          <a:xfrm>
            <a:off x="4211637" y="4005262"/>
            <a:ext cx="2160587"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True model: Firm 2</a:t>
            </a:r>
            <a:endParaRPr/>
          </a:p>
        </p:txBody>
      </p:sp>
      <p:sp>
        <p:nvSpPr>
          <p:cNvPr id="85" name="Google Shape;85;p12"/>
          <p:cNvSpPr txBox="1"/>
          <p:nvPr/>
        </p:nvSpPr>
        <p:spPr>
          <a:xfrm>
            <a:off x="5364162" y="3284537"/>
            <a:ext cx="2160587"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True model: Firm 3</a:t>
            </a:r>
            <a:endParaRPr/>
          </a:p>
        </p:txBody>
      </p:sp>
      <p:sp>
        <p:nvSpPr>
          <p:cNvPr id="86" name="Google Shape;86;p12"/>
          <p:cNvSpPr txBox="1"/>
          <p:nvPr/>
        </p:nvSpPr>
        <p:spPr>
          <a:xfrm>
            <a:off x="6516687" y="2636837"/>
            <a:ext cx="2160587"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0" i="0" lang="en-US" sz="1800" u="none">
                <a:solidFill>
                  <a:schemeClr val="dk1"/>
                </a:solidFill>
                <a:latin typeface="Tahoma"/>
                <a:ea typeface="Tahoma"/>
                <a:cs typeface="Tahoma"/>
                <a:sym typeface="Tahoma"/>
              </a:rPr>
              <a:t>True model: Firm 4</a:t>
            </a:r>
            <a:endParaRPr/>
          </a:p>
        </p:txBody>
      </p:sp>
      <p:sp>
        <p:nvSpPr>
          <p:cNvPr id="87" name="Google Shape;87;p12"/>
          <p:cNvSpPr txBox="1"/>
          <p:nvPr/>
        </p:nvSpPr>
        <p:spPr>
          <a:xfrm>
            <a:off x="539750" y="1844675"/>
            <a:ext cx="576262"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Tahoma"/>
              <a:buNone/>
            </a:pPr>
            <a:r>
              <a:rPr b="0" i="1" lang="en-US" sz="1800" u="none">
                <a:solidFill>
                  <a:schemeClr val="dk1"/>
                </a:solidFill>
                <a:latin typeface="Tahoma"/>
                <a:ea typeface="Tahoma"/>
                <a:cs typeface="Tahoma"/>
                <a:sym typeface="Tahoma"/>
              </a:rPr>
              <a:t>y</a:t>
            </a:r>
            <a:endParaRPr/>
          </a:p>
        </p:txBody>
      </p:sp>
      <p:sp>
        <p:nvSpPr>
          <p:cNvPr id="88" name="Google Shape;88;p12"/>
          <p:cNvSpPr txBox="1"/>
          <p:nvPr/>
        </p:nvSpPr>
        <p:spPr>
          <a:xfrm>
            <a:off x="7164387" y="5949950"/>
            <a:ext cx="8636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1" lang="en-US" sz="1800" u="none">
                <a:solidFill>
                  <a:schemeClr val="dk1"/>
                </a:solidFill>
                <a:latin typeface="Arial"/>
                <a:ea typeface="Arial"/>
                <a:cs typeface="Arial"/>
                <a:sym typeface="Arial"/>
              </a:rPr>
              <a:t>x</a:t>
            </a:r>
            <a:endParaRPr/>
          </a:p>
        </p:txBody>
      </p:sp>
      <p:sp>
        <p:nvSpPr>
          <p:cNvPr id="89" name="Google Shape;89;p12"/>
          <p:cNvSpPr txBox="1"/>
          <p:nvPr/>
        </p:nvSpPr>
        <p:spPr>
          <a:xfrm>
            <a:off x="1116012" y="4797425"/>
            <a:ext cx="2159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a:t>
            </a:r>
            <a:endParaRPr/>
          </a:p>
        </p:txBody>
      </p:sp>
      <p:sp>
        <p:nvSpPr>
          <p:cNvPr id="90" name="Google Shape;90;p12"/>
          <p:cNvSpPr txBox="1"/>
          <p:nvPr/>
        </p:nvSpPr>
        <p:spPr>
          <a:xfrm>
            <a:off x="1692275" y="5084762"/>
            <a:ext cx="2159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a:t>
            </a:r>
            <a:endParaRPr/>
          </a:p>
        </p:txBody>
      </p:sp>
      <p:sp>
        <p:nvSpPr>
          <p:cNvPr id="91" name="Google Shape;91;p12"/>
          <p:cNvSpPr txBox="1"/>
          <p:nvPr/>
        </p:nvSpPr>
        <p:spPr>
          <a:xfrm>
            <a:off x="2124075" y="4797425"/>
            <a:ext cx="2159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a:t>
            </a:r>
            <a:endParaRPr/>
          </a:p>
        </p:txBody>
      </p:sp>
      <p:sp>
        <p:nvSpPr>
          <p:cNvPr id="92" name="Google Shape;92;p12"/>
          <p:cNvSpPr txBox="1"/>
          <p:nvPr/>
        </p:nvSpPr>
        <p:spPr>
          <a:xfrm>
            <a:off x="2555875" y="4868862"/>
            <a:ext cx="2159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a:t>
            </a:r>
            <a:endParaRPr/>
          </a:p>
        </p:txBody>
      </p:sp>
      <p:sp>
        <p:nvSpPr>
          <p:cNvPr id="93" name="Google Shape;93;p12"/>
          <p:cNvSpPr txBox="1"/>
          <p:nvPr/>
        </p:nvSpPr>
        <p:spPr>
          <a:xfrm>
            <a:off x="2124075" y="4365625"/>
            <a:ext cx="2159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a:t>
            </a:r>
            <a:endParaRPr/>
          </a:p>
        </p:txBody>
      </p:sp>
      <p:sp>
        <p:nvSpPr>
          <p:cNvPr id="94" name="Google Shape;94;p12"/>
          <p:cNvSpPr txBox="1"/>
          <p:nvPr/>
        </p:nvSpPr>
        <p:spPr>
          <a:xfrm>
            <a:off x="2555875" y="4076700"/>
            <a:ext cx="2159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a:t>
            </a:r>
            <a:endParaRPr/>
          </a:p>
        </p:txBody>
      </p:sp>
      <p:sp>
        <p:nvSpPr>
          <p:cNvPr id="95" name="Google Shape;95;p12"/>
          <p:cNvSpPr txBox="1"/>
          <p:nvPr/>
        </p:nvSpPr>
        <p:spPr>
          <a:xfrm>
            <a:off x="3276600" y="4149725"/>
            <a:ext cx="2159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a:t>
            </a:r>
            <a:endParaRPr/>
          </a:p>
        </p:txBody>
      </p:sp>
      <p:sp>
        <p:nvSpPr>
          <p:cNvPr id="96" name="Google Shape;96;p12"/>
          <p:cNvSpPr txBox="1"/>
          <p:nvPr/>
        </p:nvSpPr>
        <p:spPr>
          <a:xfrm>
            <a:off x="3779837" y="4149725"/>
            <a:ext cx="2159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a:t>
            </a:r>
            <a:endParaRPr/>
          </a:p>
        </p:txBody>
      </p:sp>
      <p:sp>
        <p:nvSpPr>
          <p:cNvPr id="97" name="Google Shape;97;p12"/>
          <p:cNvSpPr txBox="1"/>
          <p:nvPr/>
        </p:nvSpPr>
        <p:spPr>
          <a:xfrm>
            <a:off x="3563937" y="3573462"/>
            <a:ext cx="2159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a:t>
            </a:r>
            <a:endParaRPr/>
          </a:p>
        </p:txBody>
      </p:sp>
      <p:sp>
        <p:nvSpPr>
          <p:cNvPr id="98" name="Google Shape;98;p12"/>
          <p:cNvSpPr txBox="1"/>
          <p:nvPr/>
        </p:nvSpPr>
        <p:spPr>
          <a:xfrm>
            <a:off x="3995737" y="3357562"/>
            <a:ext cx="2159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a:t>
            </a:r>
            <a:endParaRPr/>
          </a:p>
        </p:txBody>
      </p:sp>
      <p:sp>
        <p:nvSpPr>
          <p:cNvPr id="99" name="Google Shape;99;p12"/>
          <p:cNvSpPr txBox="1"/>
          <p:nvPr/>
        </p:nvSpPr>
        <p:spPr>
          <a:xfrm>
            <a:off x="4500562" y="3500437"/>
            <a:ext cx="2159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a:t>
            </a:r>
            <a:endParaRPr/>
          </a:p>
        </p:txBody>
      </p:sp>
      <p:sp>
        <p:nvSpPr>
          <p:cNvPr id="100" name="Google Shape;100;p12"/>
          <p:cNvSpPr txBox="1"/>
          <p:nvPr/>
        </p:nvSpPr>
        <p:spPr>
          <a:xfrm>
            <a:off x="5003800" y="3284537"/>
            <a:ext cx="2159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a:t>
            </a:r>
            <a:endParaRPr/>
          </a:p>
        </p:txBody>
      </p:sp>
      <p:sp>
        <p:nvSpPr>
          <p:cNvPr id="101" name="Google Shape;101;p12"/>
          <p:cNvSpPr txBox="1"/>
          <p:nvPr/>
        </p:nvSpPr>
        <p:spPr>
          <a:xfrm>
            <a:off x="4716462" y="2781300"/>
            <a:ext cx="2159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a:t>
            </a:r>
            <a:endParaRPr/>
          </a:p>
        </p:txBody>
      </p:sp>
      <p:sp>
        <p:nvSpPr>
          <p:cNvPr id="102" name="Google Shape;102;p12"/>
          <p:cNvSpPr txBox="1"/>
          <p:nvPr/>
        </p:nvSpPr>
        <p:spPr>
          <a:xfrm>
            <a:off x="5292725" y="2924175"/>
            <a:ext cx="2159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a:t>
            </a:r>
            <a:endParaRPr/>
          </a:p>
        </p:txBody>
      </p:sp>
      <p:sp>
        <p:nvSpPr>
          <p:cNvPr id="103" name="Google Shape;103;p12"/>
          <p:cNvSpPr txBox="1"/>
          <p:nvPr/>
        </p:nvSpPr>
        <p:spPr>
          <a:xfrm>
            <a:off x="5867400" y="2708275"/>
            <a:ext cx="2159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a:t>
            </a:r>
            <a:endParaRPr/>
          </a:p>
        </p:txBody>
      </p:sp>
      <p:sp>
        <p:nvSpPr>
          <p:cNvPr id="104" name="Google Shape;104;p12"/>
          <p:cNvSpPr txBox="1"/>
          <p:nvPr/>
        </p:nvSpPr>
        <p:spPr>
          <a:xfrm>
            <a:off x="6156325" y="2781300"/>
            <a:ext cx="2159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8" name="Shape 108"/>
        <p:cNvGrpSpPr/>
        <p:nvPr/>
      </p:nvGrpSpPr>
      <p:grpSpPr>
        <a:xfrm>
          <a:off x="0" y="0"/>
          <a:ext cx="0" cy="0"/>
          <a:chOff x="0" y="0"/>
          <a:chExt cx="0" cy="0"/>
        </a:xfrm>
      </p:grpSpPr>
      <p:sp>
        <p:nvSpPr>
          <p:cNvPr id="109" name="Google Shape;109;p13"/>
          <p:cNvSpPr txBox="1"/>
          <p:nvPr/>
        </p:nvSpPr>
        <p:spPr>
          <a:xfrm>
            <a:off x="250825" y="188912"/>
            <a:ext cx="8569325" cy="64817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0" i="1" lang="en-US" sz="2400" u="none">
                <a:solidFill>
                  <a:schemeClr val="dk1"/>
                </a:solidFill>
                <a:latin typeface="Tahoma"/>
                <a:ea typeface="Tahoma"/>
                <a:cs typeface="Tahoma"/>
                <a:sym typeface="Tahoma"/>
              </a:rPr>
              <a:t>Fixed Effects Estimation</a:t>
            </a:r>
            <a:endParaRPr/>
          </a:p>
          <a:p>
            <a:pPr indent="0" lvl="0" marL="0" marR="0" rtl="0" algn="l">
              <a:lnSpc>
                <a:spcPct val="100000"/>
              </a:lnSpc>
              <a:spcBef>
                <a:spcPts val="120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The previous slide suggests that a better way to model the data would be to allow each group (firm) to have its own intercept:</a:t>
            </a:r>
            <a:endParaRPr/>
          </a:p>
          <a:p>
            <a:pPr indent="0" lvl="0" marL="0" marR="0" rtl="0" algn="l">
              <a:lnSpc>
                <a:spcPct val="100000"/>
              </a:lnSpc>
              <a:spcBef>
                <a:spcPts val="120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This is know as the (</a:t>
            </a:r>
            <a:r>
              <a:rPr b="0" i="1" lang="en-US" sz="2400" u="none">
                <a:solidFill>
                  <a:schemeClr val="dk1"/>
                </a:solidFill>
                <a:latin typeface="Tahoma"/>
                <a:ea typeface="Tahoma"/>
                <a:cs typeface="Tahoma"/>
                <a:sym typeface="Tahoma"/>
              </a:rPr>
              <a:t>One Way</a:t>
            </a:r>
            <a:r>
              <a:rPr b="0" i="0" lang="en-US" sz="2400" u="none">
                <a:solidFill>
                  <a:schemeClr val="dk1"/>
                </a:solidFill>
                <a:latin typeface="Tahoma"/>
                <a:ea typeface="Tahoma"/>
                <a:cs typeface="Tahoma"/>
                <a:sym typeface="Tahoma"/>
              </a:rPr>
              <a:t>) </a:t>
            </a:r>
            <a:r>
              <a:rPr b="0" i="1" lang="en-US" sz="2400" u="none">
                <a:solidFill>
                  <a:schemeClr val="dk1"/>
                </a:solidFill>
                <a:latin typeface="Tahoma"/>
                <a:ea typeface="Tahoma"/>
                <a:cs typeface="Tahoma"/>
                <a:sym typeface="Tahoma"/>
              </a:rPr>
              <a:t>Fixed Effects Model</a:t>
            </a:r>
            <a:r>
              <a:rPr b="0" i="0" lang="en-US" sz="2400" u="none">
                <a:solidFill>
                  <a:schemeClr val="dk1"/>
                </a:solidFill>
                <a:latin typeface="Tahoma"/>
                <a:ea typeface="Tahoma"/>
                <a:cs typeface="Tahoma"/>
                <a:sym typeface="Tahoma"/>
              </a:rPr>
              <a:t>.</a:t>
            </a:r>
            <a:endParaRPr/>
          </a:p>
          <a:p>
            <a:pPr indent="0" lvl="0" marL="0" marR="0" rtl="0" algn="l">
              <a:lnSpc>
                <a:spcPct val="100000"/>
              </a:lnSpc>
              <a:spcBef>
                <a:spcPts val="120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How do we estimate it?</a:t>
            </a:r>
            <a:endParaRPr/>
          </a:p>
          <a:p>
            <a:pPr indent="0" lvl="0" marL="0" marR="0" rtl="0" algn="l">
              <a:lnSpc>
                <a:spcPct val="100000"/>
              </a:lnSpc>
              <a:spcBef>
                <a:spcPts val="120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The simplest way to allow each firm to have its own intercept is to create a set of dummy (binary) variables, one for each firm, and include them as regressors.</a:t>
            </a:r>
            <a:endParaRPr/>
          </a:p>
          <a:p>
            <a:pPr indent="0" lvl="0" marL="0" marR="0" rtl="0" algn="l">
              <a:lnSpc>
                <a:spcPct val="100000"/>
              </a:lnSpc>
              <a:spcBef>
                <a:spcPts val="1200"/>
              </a:spcBef>
              <a:spcAft>
                <a:spcPts val="0"/>
              </a:spcAft>
              <a:buClr>
                <a:schemeClr val="dk1"/>
              </a:buClr>
              <a:buSzPts val="2400"/>
              <a:buFont typeface="Arial"/>
              <a:buNone/>
            </a:pPr>
            <a:r>
              <a:t/>
            </a:r>
            <a:endParaRPr b="0" i="0" sz="2400" u="none">
              <a:solidFill>
                <a:schemeClr val="dk1"/>
              </a:solidFill>
              <a:latin typeface="Tahoma"/>
              <a:ea typeface="Tahoma"/>
              <a:cs typeface="Tahoma"/>
              <a:sym typeface="Tahoma"/>
            </a:endParaRPr>
          </a:p>
          <a:p>
            <a:pPr indent="0" lvl="0" marL="0" marR="0" rtl="0" algn="l">
              <a:lnSpc>
                <a:spcPct val="100000"/>
              </a:lnSpc>
              <a:spcBef>
                <a:spcPts val="1200"/>
              </a:spcBef>
              <a:spcAft>
                <a:spcPts val="0"/>
              </a:spcAft>
              <a:buClr>
                <a:schemeClr val="dk1"/>
              </a:buClr>
              <a:buSzPts val="2400"/>
              <a:buFont typeface="Arial"/>
              <a:buNone/>
            </a:pPr>
            <a:r>
              <a:t/>
            </a:r>
            <a:endParaRPr b="0" i="0" sz="2400" u="none">
              <a:solidFill>
                <a:schemeClr val="dk1"/>
              </a:solidFill>
              <a:latin typeface="Tahoma"/>
              <a:ea typeface="Tahoma"/>
              <a:cs typeface="Tahoma"/>
              <a:sym typeface="Tahoma"/>
            </a:endParaRPr>
          </a:p>
          <a:p>
            <a:pPr indent="0" lvl="0" marL="0" marR="0" rtl="0" algn="l">
              <a:lnSpc>
                <a:spcPct val="100000"/>
              </a:lnSpc>
              <a:spcBef>
                <a:spcPts val="120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Consequently, this form of estimation is also known as </a:t>
            </a:r>
            <a:r>
              <a:rPr b="0" i="1" lang="en-US" sz="2400" u="none">
                <a:solidFill>
                  <a:schemeClr val="dk1"/>
                </a:solidFill>
                <a:latin typeface="Tahoma"/>
                <a:ea typeface="Tahoma"/>
                <a:cs typeface="Tahoma"/>
                <a:sym typeface="Tahoma"/>
              </a:rPr>
              <a:t>Least Squares Dummy Variables (LSDV)</a:t>
            </a:r>
            <a:r>
              <a:rPr b="0" i="0" lang="en-US" sz="2400" u="none">
                <a:solidFill>
                  <a:schemeClr val="dk1"/>
                </a:solidFill>
                <a:latin typeface="Tahoma"/>
                <a:ea typeface="Tahoma"/>
                <a:cs typeface="Tahoma"/>
                <a:sym typeface="Tahoma"/>
              </a:rPr>
              <a:t>. (Note that there is no constant in this regression.)</a:t>
            </a:r>
            <a:endParaRPr/>
          </a:p>
        </p:txBody>
      </p:sp>
      <p:sp>
        <p:nvSpPr>
          <p:cNvPr id="110" name="Google Shape;110;p13"/>
          <p:cNvSpPr/>
          <p:nvPr/>
        </p:nvSpPr>
        <p:spPr>
          <a:xfrm>
            <a:off x="0" y="3262312"/>
            <a:ext cx="9144000" cy="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111" name="Google Shape;111;p13"/>
          <p:cNvPicPr preferRelativeResize="0"/>
          <p:nvPr/>
        </p:nvPicPr>
        <p:blipFill rotWithShape="1">
          <a:blip r:embed="rId3">
            <a:alphaModFix/>
          </a:blip>
          <a:srcRect b="0" l="0" r="0" t="0"/>
          <a:stretch/>
        </p:blipFill>
        <p:spPr>
          <a:xfrm>
            <a:off x="2484437" y="1557337"/>
            <a:ext cx="3581400" cy="333375"/>
          </a:xfrm>
          <a:prstGeom prst="rect">
            <a:avLst/>
          </a:prstGeom>
          <a:noFill/>
          <a:ln>
            <a:noFill/>
          </a:ln>
        </p:spPr>
      </p:pic>
      <p:sp>
        <p:nvSpPr>
          <p:cNvPr id="112" name="Google Shape;112;p13"/>
          <p:cNvSpPr/>
          <p:nvPr/>
        </p:nvSpPr>
        <p:spPr>
          <a:xfrm>
            <a:off x="0" y="3081337"/>
            <a:ext cx="9144000" cy="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3" name="Google Shape;113;p13"/>
          <p:cNvSpPr/>
          <p:nvPr/>
        </p:nvSpPr>
        <p:spPr>
          <a:xfrm>
            <a:off x="0" y="3014662"/>
            <a:ext cx="9144000" cy="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114" name="Google Shape;114;p13"/>
          <p:cNvPicPr preferRelativeResize="0"/>
          <p:nvPr/>
        </p:nvPicPr>
        <p:blipFill rotWithShape="1">
          <a:blip r:embed="rId4">
            <a:alphaModFix/>
          </a:blip>
          <a:srcRect b="0" l="0" r="0" t="0"/>
          <a:stretch/>
        </p:blipFill>
        <p:spPr>
          <a:xfrm>
            <a:off x="2268537" y="4437062"/>
            <a:ext cx="4638675" cy="8286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8" name="Shape 118"/>
        <p:cNvGrpSpPr/>
        <p:nvPr/>
      </p:nvGrpSpPr>
      <p:grpSpPr>
        <a:xfrm>
          <a:off x="0" y="0"/>
          <a:ext cx="0" cy="0"/>
          <a:chOff x="0" y="0"/>
          <a:chExt cx="0" cy="0"/>
        </a:xfrm>
      </p:grpSpPr>
      <p:sp>
        <p:nvSpPr>
          <p:cNvPr id="119" name="Google Shape;119;p14"/>
          <p:cNvSpPr txBox="1"/>
          <p:nvPr/>
        </p:nvSpPr>
        <p:spPr>
          <a:xfrm>
            <a:off x="250825" y="404812"/>
            <a:ext cx="8713787" cy="48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However if there are a lot of groups (firms) then it becomes very tedious to create all the dummy variables needed. Some econometric software (e.g. Limdep) is able to automate this. The method used is called the </a:t>
            </a:r>
            <a:r>
              <a:rPr b="0" i="1" lang="en-US" sz="2400" u="none">
                <a:solidFill>
                  <a:schemeClr val="dk1"/>
                </a:solidFill>
                <a:latin typeface="Tahoma"/>
                <a:ea typeface="Tahoma"/>
                <a:cs typeface="Tahoma"/>
                <a:sym typeface="Tahoma"/>
              </a:rPr>
              <a:t>covariance estimator</a:t>
            </a:r>
            <a:r>
              <a:rPr b="0" i="0" lang="en-US" sz="2400" u="none">
                <a:solidFill>
                  <a:schemeClr val="dk1"/>
                </a:solidFill>
                <a:latin typeface="Tahoma"/>
                <a:ea typeface="Tahoma"/>
                <a:cs typeface="Tahoma"/>
                <a:sym typeface="Tahoma"/>
              </a:rPr>
              <a:t> and works be “differencing” out the fixed effect by expressing variables as deviations from their group means,	:</a:t>
            </a:r>
            <a:endParaRPr/>
          </a:p>
          <a:p>
            <a:pPr indent="0" lvl="0" marL="0" marR="0" rtl="0" algn="l">
              <a:lnSpc>
                <a:spcPct val="100000"/>
              </a:lnSpc>
              <a:spcBef>
                <a:spcPts val="1200"/>
              </a:spcBef>
              <a:spcAft>
                <a:spcPts val="0"/>
              </a:spcAft>
              <a:buClr>
                <a:schemeClr val="dk1"/>
              </a:buClr>
              <a:buSzPts val="2400"/>
              <a:buFont typeface="Arial"/>
              <a:buNone/>
            </a:pPr>
            <a:r>
              <a:t/>
            </a:r>
            <a:endParaRPr b="0" i="0" sz="2400" u="none">
              <a:solidFill>
                <a:schemeClr val="dk1"/>
              </a:solidFill>
              <a:latin typeface="Tahoma"/>
              <a:ea typeface="Tahoma"/>
              <a:cs typeface="Tahoma"/>
              <a:sym typeface="Tahoma"/>
            </a:endParaRPr>
          </a:p>
          <a:p>
            <a:pPr indent="0" lvl="0" marL="0" marR="0" rtl="0" algn="l">
              <a:lnSpc>
                <a:spcPct val="100000"/>
              </a:lnSpc>
              <a:spcBef>
                <a:spcPts val="120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So:</a:t>
            </a:r>
            <a:endParaRPr/>
          </a:p>
          <a:p>
            <a:pPr indent="0" lvl="0" marL="0" marR="0" rtl="0" algn="l">
              <a:lnSpc>
                <a:spcPct val="100000"/>
              </a:lnSpc>
              <a:spcBef>
                <a:spcPts val="1200"/>
              </a:spcBef>
              <a:spcAft>
                <a:spcPts val="0"/>
              </a:spcAft>
              <a:buClr>
                <a:schemeClr val="dk1"/>
              </a:buClr>
              <a:buSzPts val="2400"/>
              <a:buFont typeface="Arial"/>
              <a:buNone/>
            </a:pPr>
            <a:r>
              <a:t/>
            </a:r>
            <a:endParaRPr b="0" i="0" sz="2400" u="none">
              <a:solidFill>
                <a:schemeClr val="dk1"/>
              </a:solidFill>
              <a:latin typeface="Tahoma"/>
              <a:ea typeface="Tahoma"/>
              <a:cs typeface="Tahoma"/>
              <a:sym typeface="Tahoma"/>
            </a:endParaRPr>
          </a:p>
          <a:p>
            <a:pPr indent="0" lvl="0" marL="0" marR="0" rtl="0" algn="l">
              <a:lnSpc>
                <a:spcPct val="100000"/>
              </a:lnSpc>
              <a:spcBef>
                <a:spcPts val="120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A further extension is to allow the intercept to vary across the different time periods (</a:t>
            </a:r>
            <a:r>
              <a:rPr b="0" i="1" lang="en-US" sz="2400" u="none">
                <a:solidFill>
                  <a:schemeClr val="dk1"/>
                </a:solidFill>
                <a:latin typeface="Tahoma"/>
                <a:ea typeface="Tahoma"/>
                <a:cs typeface="Tahoma"/>
                <a:sym typeface="Tahoma"/>
              </a:rPr>
              <a:t>Two Way Fixed Effects</a:t>
            </a:r>
            <a:r>
              <a:rPr b="0" i="0" lang="en-US" sz="2400" u="none">
                <a:solidFill>
                  <a:schemeClr val="dk1"/>
                </a:solidFill>
                <a:latin typeface="Tahoma"/>
                <a:ea typeface="Tahoma"/>
                <a:cs typeface="Tahoma"/>
                <a:sym typeface="Tahoma"/>
              </a:rPr>
              <a:t>):</a:t>
            </a:r>
            <a:endParaRPr/>
          </a:p>
        </p:txBody>
      </p:sp>
      <p:sp>
        <p:nvSpPr>
          <p:cNvPr id="120" name="Google Shape;120;p14"/>
          <p:cNvSpPr/>
          <p:nvPr/>
        </p:nvSpPr>
        <p:spPr>
          <a:xfrm>
            <a:off x="0" y="3262312"/>
            <a:ext cx="9144000" cy="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121" name="Google Shape;121;p14"/>
          <p:cNvPicPr preferRelativeResize="0"/>
          <p:nvPr/>
        </p:nvPicPr>
        <p:blipFill rotWithShape="1">
          <a:blip r:embed="rId3">
            <a:alphaModFix/>
          </a:blip>
          <a:srcRect b="0" l="0" r="0" t="0"/>
          <a:stretch/>
        </p:blipFill>
        <p:spPr>
          <a:xfrm>
            <a:off x="1547812" y="2852737"/>
            <a:ext cx="6324600" cy="333375"/>
          </a:xfrm>
          <a:prstGeom prst="rect">
            <a:avLst/>
          </a:prstGeom>
          <a:noFill/>
          <a:ln>
            <a:noFill/>
          </a:ln>
        </p:spPr>
      </p:pic>
      <p:sp>
        <p:nvSpPr>
          <p:cNvPr id="122" name="Google Shape;122;p14"/>
          <p:cNvSpPr/>
          <p:nvPr/>
        </p:nvSpPr>
        <p:spPr>
          <a:xfrm>
            <a:off x="0" y="0"/>
            <a:ext cx="9144000" cy="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123" name="Google Shape;123;p14"/>
          <p:cNvPicPr preferRelativeResize="0"/>
          <p:nvPr/>
        </p:nvPicPr>
        <p:blipFill rotWithShape="1">
          <a:blip r:embed="rId4">
            <a:alphaModFix/>
          </a:blip>
          <a:srcRect b="0" l="0" r="0" t="0"/>
          <a:stretch/>
        </p:blipFill>
        <p:spPr>
          <a:xfrm>
            <a:off x="5148262" y="2349500"/>
            <a:ext cx="685800" cy="314325"/>
          </a:xfrm>
          <a:prstGeom prst="rect">
            <a:avLst/>
          </a:prstGeom>
          <a:noFill/>
          <a:ln>
            <a:noFill/>
          </a:ln>
        </p:spPr>
      </p:pic>
      <p:sp>
        <p:nvSpPr>
          <p:cNvPr id="124" name="Google Shape;124;p14"/>
          <p:cNvSpPr/>
          <p:nvPr/>
        </p:nvSpPr>
        <p:spPr>
          <a:xfrm>
            <a:off x="0" y="3262312"/>
            <a:ext cx="9144000" cy="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125" name="Google Shape;125;p14"/>
          <p:cNvPicPr preferRelativeResize="0"/>
          <p:nvPr/>
        </p:nvPicPr>
        <p:blipFill rotWithShape="1">
          <a:blip r:embed="rId5">
            <a:alphaModFix/>
          </a:blip>
          <a:srcRect b="0" l="0" r="0" t="0"/>
          <a:stretch/>
        </p:blipFill>
        <p:spPr>
          <a:xfrm>
            <a:off x="2124075" y="3429000"/>
            <a:ext cx="4505325" cy="333375"/>
          </a:xfrm>
          <a:prstGeom prst="rect">
            <a:avLst/>
          </a:prstGeom>
          <a:noFill/>
          <a:ln>
            <a:noFill/>
          </a:ln>
        </p:spPr>
      </p:pic>
      <p:sp>
        <p:nvSpPr>
          <p:cNvPr id="126" name="Google Shape;126;p14"/>
          <p:cNvSpPr/>
          <p:nvPr/>
        </p:nvSpPr>
        <p:spPr>
          <a:xfrm>
            <a:off x="0" y="3071812"/>
            <a:ext cx="9144000" cy="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127" name="Google Shape;127;p14"/>
          <p:cNvPicPr preferRelativeResize="0"/>
          <p:nvPr/>
        </p:nvPicPr>
        <p:blipFill rotWithShape="1">
          <a:blip r:embed="rId6">
            <a:alphaModFix/>
          </a:blip>
          <a:srcRect b="0" l="0" r="0" t="0"/>
          <a:stretch/>
        </p:blipFill>
        <p:spPr>
          <a:xfrm>
            <a:off x="1908175" y="5445125"/>
            <a:ext cx="5410200" cy="7143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1" name="Shape 131"/>
        <p:cNvGrpSpPr/>
        <p:nvPr/>
      </p:nvGrpSpPr>
      <p:grpSpPr>
        <a:xfrm>
          <a:off x="0" y="0"/>
          <a:ext cx="0" cy="0"/>
          <a:chOff x="0" y="0"/>
          <a:chExt cx="0" cy="0"/>
        </a:xfrm>
      </p:grpSpPr>
      <p:sp>
        <p:nvSpPr>
          <p:cNvPr id="132" name="Google Shape;132;p15"/>
          <p:cNvSpPr txBox="1"/>
          <p:nvPr/>
        </p:nvSpPr>
        <p:spPr>
          <a:xfrm>
            <a:off x="250825" y="333375"/>
            <a:ext cx="8642350" cy="44735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The time dummy coefficients can allow the regression function to shift over time to capture changes in technology, government regulation, tax policy, external influences (wars…) etc.</a:t>
            </a:r>
            <a:endParaRPr/>
          </a:p>
          <a:p>
            <a:pPr indent="0" lvl="0" marL="0" marR="0" rtl="0" algn="l">
              <a:lnSpc>
                <a:spcPct val="100000"/>
              </a:lnSpc>
              <a:spcBef>
                <a:spcPts val="1200"/>
              </a:spcBef>
              <a:spcAft>
                <a:spcPts val="0"/>
              </a:spcAft>
              <a:buClr>
                <a:schemeClr val="dk1"/>
              </a:buClr>
              <a:buSzPts val="2400"/>
              <a:buFont typeface="Tahoma"/>
              <a:buNone/>
            </a:pPr>
            <a:r>
              <a:rPr b="0" i="1" lang="en-US" sz="2400" u="none">
                <a:solidFill>
                  <a:schemeClr val="dk1"/>
                </a:solidFill>
                <a:latin typeface="Tahoma"/>
                <a:ea typeface="Tahoma"/>
                <a:cs typeface="Tahoma"/>
                <a:sym typeface="Tahoma"/>
              </a:rPr>
              <a:t>Allowing intercept and slope coefficients to vary across groups</a:t>
            </a:r>
            <a:endParaRPr/>
          </a:p>
          <a:p>
            <a:pPr indent="0" lvl="0" marL="0" marR="0" rtl="0" algn="l">
              <a:lnSpc>
                <a:spcPct val="100000"/>
              </a:lnSpc>
              <a:spcBef>
                <a:spcPts val="120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If we have a sufficient long time dimension to the panel, we could of course just estimate a separate OLS regression for each group (firm). If the number of firms (cross-sectional dimension) is small, then we could estimate a single regression with interactions between </a:t>
            </a:r>
            <a:r>
              <a:rPr b="0" i="1" lang="en-US" sz="2400" u="none">
                <a:solidFill>
                  <a:schemeClr val="dk1"/>
                </a:solidFill>
                <a:latin typeface="Tahoma"/>
                <a:ea typeface="Tahoma"/>
                <a:cs typeface="Tahoma"/>
                <a:sym typeface="Tahoma"/>
              </a:rPr>
              <a:t>x</a:t>
            </a:r>
            <a:r>
              <a:rPr b="0" i="0" lang="en-US" sz="2400" u="none">
                <a:solidFill>
                  <a:schemeClr val="dk1"/>
                </a:solidFill>
                <a:latin typeface="Tahoma"/>
                <a:ea typeface="Tahoma"/>
                <a:cs typeface="Tahoma"/>
                <a:sym typeface="Tahoma"/>
              </a:rPr>
              <a:t> and the group dummy variables </a:t>
            </a:r>
            <a:r>
              <a:rPr b="0" i="1" lang="en-US" sz="2400" u="none">
                <a:solidFill>
                  <a:schemeClr val="dk1"/>
                </a:solidFill>
                <a:latin typeface="Tahoma"/>
                <a:ea typeface="Tahoma"/>
                <a:cs typeface="Tahoma"/>
                <a:sym typeface="Tahoma"/>
              </a:rPr>
              <a:t>D</a:t>
            </a:r>
            <a:r>
              <a:rPr b="0" i="0" lang="en-US" sz="2400" u="none">
                <a:solidFill>
                  <a:schemeClr val="dk1"/>
                </a:solidFill>
                <a:latin typeface="Tahoma"/>
                <a:ea typeface="Tahoma"/>
                <a:cs typeface="Tahoma"/>
                <a:sym typeface="Tahoma"/>
              </a:rPr>
              <a: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6" name="Shape 136"/>
        <p:cNvGrpSpPr/>
        <p:nvPr/>
      </p:nvGrpSpPr>
      <p:grpSpPr>
        <a:xfrm>
          <a:off x="0" y="0"/>
          <a:ext cx="0" cy="0"/>
          <a:chOff x="0" y="0"/>
          <a:chExt cx="0" cy="0"/>
        </a:xfrm>
      </p:grpSpPr>
      <p:sp>
        <p:nvSpPr>
          <p:cNvPr id="137" name="Google Shape;137;p16"/>
          <p:cNvSpPr txBox="1"/>
          <p:nvPr/>
        </p:nvSpPr>
        <p:spPr>
          <a:xfrm>
            <a:off x="250825" y="404812"/>
            <a:ext cx="8642350" cy="55689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0" i="1" lang="en-US" sz="2400" u="none">
                <a:solidFill>
                  <a:schemeClr val="dk1"/>
                </a:solidFill>
                <a:latin typeface="Tahoma"/>
                <a:ea typeface="Tahoma"/>
                <a:cs typeface="Tahoma"/>
                <a:sym typeface="Tahoma"/>
              </a:rPr>
              <a:t>Random Effects Estimation</a:t>
            </a:r>
            <a:endParaRPr/>
          </a:p>
          <a:p>
            <a:pPr indent="0" lvl="0" marL="0" marR="0" rtl="0" algn="l">
              <a:lnSpc>
                <a:spcPct val="100000"/>
              </a:lnSpc>
              <a:spcBef>
                <a:spcPts val="120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The fixed effects model assumes that each group (firm) has a </a:t>
            </a:r>
            <a:r>
              <a:rPr b="0" i="1" lang="en-US" sz="2400" u="none">
                <a:solidFill>
                  <a:schemeClr val="dk1"/>
                </a:solidFill>
                <a:latin typeface="Tahoma"/>
                <a:ea typeface="Tahoma"/>
                <a:cs typeface="Tahoma"/>
                <a:sym typeface="Tahoma"/>
              </a:rPr>
              <a:t>non-stochastic</a:t>
            </a:r>
            <a:r>
              <a:rPr b="0" i="0" lang="en-US" sz="2400" u="none">
                <a:solidFill>
                  <a:schemeClr val="dk1"/>
                </a:solidFill>
                <a:latin typeface="Tahoma"/>
                <a:ea typeface="Tahoma"/>
                <a:cs typeface="Tahoma"/>
                <a:sym typeface="Tahoma"/>
              </a:rPr>
              <a:t> group-specific component to </a:t>
            </a:r>
            <a:r>
              <a:rPr b="0" i="1" lang="en-US" sz="2400" u="none">
                <a:solidFill>
                  <a:schemeClr val="dk1"/>
                </a:solidFill>
                <a:latin typeface="Tahoma"/>
                <a:ea typeface="Tahoma"/>
                <a:cs typeface="Tahoma"/>
                <a:sym typeface="Tahoma"/>
              </a:rPr>
              <a:t>y</a:t>
            </a:r>
            <a:r>
              <a:rPr b="0" i="0" lang="en-US" sz="2400" u="none">
                <a:solidFill>
                  <a:schemeClr val="dk1"/>
                </a:solidFill>
                <a:latin typeface="Tahoma"/>
                <a:ea typeface="Tahoma"/>
                <a:cs typeface="Tahoma"/>
                <a:sym typeface="Tahoma"/>
              </a:rPr>
              <a:t>. Including dummy variables is a way of controlling for unobservable effects on </a:t>
            </a:r>
            <a:r>
              <a:rPr b="0" i="1" lang="en-US" sz="2400" u="none">
                <a:solidFill>
                  <a:schemeClr val="dk1"/>
                </a:solidFill>
                <a:latin typeface="Tahoma"/>
                <a:ea typeface="Tahoma"/>
                <a:cs typeface="Tahoma"/>
                <a:sym typeface="Tahoma"/>
              </a:rPr>
              <a:t>y</a:t>
            </a:r>
            <a:r>
              <a:rPr b="0" i="0" lang="en-US" sz="2400" u="none">
                <a:solidFill>
                  <a:schemeClr val="dk1"/>
                </a:solidFill>
                <a:latin typeface="Tahoma"/>
                <a:ea typeface="Tahoma"/>
                <a:cs typeface="Tahoma"/>
                <a:sym typeface="Tahoma"/>
              </a:rPr>
              <a:t>. </a:t>
            </a:r>
            <a:endParaRPr/>
          </a:p>
          <a:p>
            <a:pPr indent="0" lvl="0" marL="0" marR="0" rtl="0" algn="l">
              <a:lnSpc>
                <a:spcPct val="100000"/>
              </a:lnSpc>
              <a:spcBef>
                <a:spcPts val="120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But these unobservable effects may be </a:t>
            </a:r>
            <a:r>
              <a:rPr b="0" i="1" lang="en-US" sz="2400" u="none">
                <a:solidFill>
                  <a:schemeClr val="dk1"/>
                </a:solidFill>
                <a:latin typeface="Tahoma"/>
                <a:ea typeface="Tahoma"/>
                <a:cs typeface="Tahoma"/>
                <a:sym typeface="Tahoma"/>
              </a:rPr>
              <a:t>stochastic</a:t>
            </a:r>
            <a:r>
              <a:rPr b="0" i="0" lang="en-US" sz="2400" u="none">
                <a:solidFill>
                  <a:schemeClr val="dk1"/>
                </a:solidFill>
                <a:latin typeface="Tahoma"/>
                <a:ea typeface="Tahoma"/>
                <a:cs typeface="Tahoma"/>
                <a:sym typeface="Tahoma"/>
              </a:rPr>
              <a:t> (i.e. random). The </a:t>
            </a:r>
            <a:r>
              <a:rPr b="0" i="1" lang="en-US" sz="2400" u="none">
                <a:solidFill>
                  <a:schemeClr val="dk1"/>
                </a:solidFill>
                <a:latin typeface="Tahoma"/>
                <a:ea typeface="Tahoma"/>
                <a:cs typeface="Tahoma"/>
                <a:sym typeface="Tahoma"/>
              </a:rPr>
              <a:t>Random Effects Model</a:t>
            </a:r>
            <a:r>
              <a:rPr b="0" i="0" lang="en-US" sz="2400" u="none">
                <a:solidFill>
                  <a:schemeClr val="dk1"/>
                </a:solidFill>
                <a:latin typeface="Tahoma"/>
                <a:ea typeface="Tahoma"/>
                <a:cs typeface="Tahoma"/>
                <a:sym typeface="Tahoma"/>
              </a:rPr>
              <a:t> attempts to deal with this:</a:t>
            </a:r>
            <a:endParaRPr/>
          </a:p>
          <a:p>
            <a:pPr indent="0" lvl="0" marL="0" marR="0" rtl="0" algn="l">
              <a:lnSpc>
                <a:spcPct val="100000"/>
              </a:lnSpc>
              <a:spcBef>
                <a:spcPts val="1200"/>
              </a:spcBef>
              <a:spcAft>
                <a:spcPts val="0"/>
              </a:spcAft>
              <a:buClr>
                <a:schemeClr val="dk1"/>
              </a:buClr>
              <a:buSzPts val="2400"/>
              <a:buFont typeface="Arial"/>
              <a:buNone/>
            </a:pPr>
            <a:r>
              <a:t/>
            </a:r>
            <a:endParaRPr b="0" i="0" sz="2400" u="none">
              <a:solidFill>
                <a:schemeClr val="dk1"/>
              </a:solidFill>
              <a:latin typeface="Tahoma"/>
              <a:ea typeface="Tahoma"/>
              <a:cs typeface="Tahoma"/>
              <a:sym typeface="Tahoma"/>
            </a:endParaRPr>
          </a:p>
          <a:p>
            <a:pPr indent="0" lvl="0" marL="0" marR="0" rtl="0" algn="l">
              <a:lnSpc>
                <a:spcPct val="100000"/>
              </a:lnSpc>
              <a:spcBef>
                <a:spcPts val="120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Here the unobservable component, </a:t>
            </a:r>
            <a:r>
              <a:rPr b="0" i="1" lang="en-US" sz="2400" u="none">
                <a:solidFill>
                  <a:schemeClr val="dk1"/>
                </a:solidFill>
                <a:latin typeface="Tahoma"/>
                <a:ea typeface="Tahoma"/>
                <a:cs typeface="Tahoma"/>
                <a:sym typeface="Tahoma"/>
              </a:rPr>
              <a:t>v</a:t>
            </a:r>
            <a:r>
              <a:rPr b="0" baseline="-25000" i="1" lang="en-US" sz="2400" u="none">
                <a:solidFill>
                  <a:schemeClr val="dk1"/>
                </a:solidFill>
                <a:latin typeface="Tahoma"/>
                <a:ea typeface="Tahoma"/>
                <a:cs typeface="Tahoma"/>
                <a:sym typeface="Tahoma"/>
              </a:rPr>
              <a:t>i</a:t>
            </a:r>
            <a:r>
              <a:rPr b="0" i="0" lang="en-US" sz="2400" u="none">
                <a:solidFill>
                  <a:schemeClr val="dk1"/>
                </a:solidFill>
                <a:latin typeface="Tahoma"/>
                <a:ea typeface="Tahoma"/>
                <a:cs typeface="Tahoma"/>
                <a:sym typeface="Tahoma"/>
              </a:rPr>
              <a:t> , is treated as a component of the random error term. </a:t>
            </a:r>
            <a:r>
              <a:rPr b="0" i="1" lang="en-US" sz="2400" u="none">
                <a:solidFill>
                  <a:schemeClr val="dk1"/>
                </a:solidFill>
                <a:latin typeface="Tahoma"/>
                <a:ea typeface="Tahoma"/>
                <a:cs typeface="Tahoma"/>
                <a:sym typeface="Tahoma"/>
              </a:rPr>
              <a:t>v</a:t>
            </a:r>
            <a:r>
              <a:rPr b="0" baseline="-25000" i="1" lang="en-US" sz="2400" u="none">
                <a:solidFill>
                  <a:schemeClr val="dk1"/>
                </a:solidFill>
                <a:latin typeface="Tahoma"/>
                <a:ea typeface="Tahoma"/>
                <a:cs typeface="Tahoma"/>
                <a:sym typeface="Tahoma"/>
              </a:rPr>
              <a:t>i</a:t>
            </a:r>
            <a:r>
              <a:rPr b="0" i="1" lang="en-US" sz="2400" u="none">
                <a:solidFill>
                  <a:schemeClr val="dk1"/>
                </a:solidFill>
                <a:latin typeface="Tahoma"/>
                <a:ea typeface="Tahoma"/>
                <a:cs typeface="Tahoma"/>
                <a:sym typeface="Tahoma"/>
              </a:rPr>
              <a:t> </a:t>
            </a:r>
            <a:r>
              <a:rPr b="0" i="0" lang="en-US" sz="2400" u="none">
                <a:solidFill>
                  <a:schemeClr val="dk1"/>
                </a:solidFill>
                <a:latin typeface="Tahoma"/>
                <a:ea typeface="Tahoma"/>
                <a:cs typeface="Tahoma"/>
                <a:sym typeface="Tahoma"/>
              </a:rPr>
              <a:t>is the element of the error which varies between groups but not within groups. </a:t>
            </a:r>
            <a:r>
              <a:rPr b="0" i="1" lang="en-US" sz="2400" u="none">
                <a:solidFill>
                  <a:schemeClr val="dk1"/>
                </a:solidFill>
                <a:latin typeface="Tahoma"/>
                <a:ea typeface="Tahoma"/>
                <a:cs typeface="Tahoma"/>
                <a:sym typeface="Tahoma"/>
              </a:rPr>
              <a:t>ε</a:t>
            </a:r>
            <a:r>
              <a:rPr b="0" baseline="-25000" i="1" lang="en-US" sz="2400" u="none">
                <a:solidFill>
                  <a:schemeClr val="dk1"/>
                </a:solidFill>
                <a:latin typeface="Tahoma"/>
                <a:ea typeface="Tahoma"/>
                <a:cs typeface="Tahoma"/>
                <a:sym typeface="Tahoma"/>
              </a:rPr>
              <a:t>it</a:t>
            </a:r>
            <a:r>
              <a:rPr b="0" i="0" lang="en-US" sz="2400" u="none">
                <a:solidFill>
                  <a:schemeClr val="dk1"/>
                </a:solidFill>
                <a:latin typeface="Tahoma"/>
                <a:ea typeface="Tahoma"/>
                <a:cs typeface="Tahoma"/>
                <a:sym typeface="Tahoma"/>
              </a:rPr>
              <a:t> is the element of the error which varies over group and time.</a:t>
            </a:r>
            <a:endParaRPr/>
          </a:p>
        </p:txBody>
      </p:sp>
      <p:sp>
        <p:nvSpPr>
          <p:cNvPr id="138" name="Google Shape;138;p16"/>
          <p:cNvSpPr/>
          <p:nvPr/>
        </p:nvSpPr>
        <p:spPr>
          <a:xfrm>
            <a:off x="0" y="3262312"/>
            <a:ext cx="9144000" cy="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139" name="Google Shape;139;p16"/>
          <p:cNvPicPr preferRelativeResize="0"/>
          <p:nvPr/>
        </p:nvPicPr>
        <p:blipFill rotWithShape="1">
          <a:blip r:embed="rId3">
            <a:alphaModFix/>
          </a:blip>
          <a:srcRect b="0" l="0" r="0" t="0"/>
          <a:stretch/>
        </p:blipFill>
        <p:spPr>
          <a:xfrm>
            <a:off x="2268537" y="3716337"/>
            <a:ext cx="4048125" cy="3333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3" name="Shape 143"/>
        <p:cNvGrpSpPr/>
        <p:nvPr/>
      </p:nvGrpSpPr>
      <p:grpSpPr>
        <a:xfrm>
          <a:off x="0" y="0"/>
          <a:ext cx="0" cy="0"/>
          <a:chOff x="0" y="0"/>
          <a:chExt cx="0" cy="0"/>
        </a:xfrm>
      </p:grpSpPr>
      <p:sp>
        <p:nvSpPr>
          <p:cNvPr id="144" name="Google Shape;144;p17"/>
          <p:cNvSpPr txBox="1"/>
          <p:nvPr/>
        </p:nvSpPr>
        <p:spPr>
          <a:xfrm>
            <a:off x="250825" y="188912"/>
            <a:ext cx="8569325" cy="6299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We assume that:</a:t>
            </a:r>
            <a:endParaRPr/>
          </a:p>
          <a:p>
            <a:pPr indent="0" lvl="0" marL="0" marR="0" rtl="0" algn="l">
              <a:lnSpc>
                <a:spcPct val="100000"/>
              </a:lnSpc>
              <a:spcBef>
                <a:spcPts val="1200"/>
              </a:spcBef>
              <a:spcAft>
                <a:spcPts val="0"/>
              </a:spcAft>
              <a:buClr>
                <a:schemeClr val="dk1"/>
              </a:buClr>
              <a:buSzPts val="2400"/>
              <a:buFont typeface="Arial"/>
              <a:buNone/>
            </a:pPr>
            <a:r>
              <a:t/>
            </a:r>
            <a:endParaRPr b="0" i="0" sz="2400" u="none">
              <a:solidFill>
                <a:schemeClr val="dk1"/>
              </a:solidFill>
              <a:latin typeface="Tahoma"/>
              <a:ea typeface="Tahoma"/>
              <a:cs typeface="Tahoma"/>
              <a:sym typeface="Tahoma"/>
            </a:endParaRPr>
          </a:p>
          <a:p>
            <a:pPr indent="0" lvl="0" marL="0" marR="0" rtl="0" algn="l">
              <a:lnSpc>
                <a:spcPct val="100000"/>
              </a:lnSpc>
              <a:spcBef>
                <a:spcPts val="1200"/>
              </a:spcBef>
              <a:spcAft>
                <a:spcPts val="0"/>
              </a:spcAft>
              <a:buClr>
                <a:schemeClr val="dk1"/>
              </a:buClr>
              <a:buSzPts val="2400"/>
              <a:buFont typeface="Arial"/>
              <a:buNone/>
            </a:pPr>
            <a:r>
              <a:t/>
            </a:r>
            <a:endParaRPr b="0" i="0" sz="2400" u="none">
              <a:solidFill>
                <a:schemeClr val="dk1"/>
              </a:solidFill>
              <a:latin typeface="Tahoma"/>
              <a:ea typeface="Tahoma"/>
              <a:cs typeface="Tahoma"/>
              <a:sym typeface="Tahoma"/>
            </a:endParaRPr>
          </a:p>
          <a:p>
            <a:pPr indent="0" lvl="0" marL="0" marR="0" rtl="0" algn="l">
              <a:lnSpc>
                <a:spcPct val="100000"/>
              </a:lnSpc>
              <a:spcBef>
                <a:spcPts val="1200"/>
              </a:spcBef>
              <a:spcAft>
                <a:spcPts val="0"/>
              </a:spcAft>
              <a:buClr>
                <a:schemeClr val="dk1"/>
              </a:buClr>
              <a:buSzPts val="2400"/>
              <a:buFont typeface="Arial"/>
              <a:buNone/>
            </a:pPr>
            <a:r>
              <a:t/>
            </a:r>
            <a:endParaRPr b="0" i="0" sz="2400" u="none">
              <a:solidFill>
                <a:schemeClr val="dk1"/>
              </a:solidFill>
              <a:latin typeface="Tahoma"/>
              <a:ea typeface="Tahoma"/>
              <a:cs typeface="Tahoma"/>
              <a:sym typeface="Tahoma"/>
            </a:endParaRPr>
          </a:p>
          <a:p>
            <a:pPr indent="0" lvl="0" marL="0" marR="0" rtl="0" algn="l">
              <a:lnSpc>
                <a:spcPct val="100000"/>
              </a:lnSpc>
              <a:spcBef>
                <a:spcPts val="1200"/>
              </a:spcBef>
              <a:spcAft>
                <a:spcPts val="0"/>
              </a:spcAft>
              <a:buClr>
                <a:schemeClr val="dk1"/>
              </a:buClr>
              <a:buSzPts val="2400"/>
              <a:buFont typeface="Arial"/>
              <a:buNone/>
            </a:pPr>
            <a:r>
              <a:t/>
            </a:r>
            <a:endParaRPr b="0" i="0" sz="2400" u="none">
              <a:solidFill>
                <a:schemeClr val="dk1"/>
              </a:solidFill>
              <a:latin typeface="Tahoma"/>
              <a:ea typeface="Tahoma"/>
              <a:cs typeface="Tahoma"/>
              <a:sym typeface="Tahoma"/>
            </a:endParaRPr>
          </a:p>
          <a:p>
            <a:pPr indent="0" lvl="0" marL="0" marR="0" rtl="0" algn="l">
              <a:lnSpc>
                <a:spcPct val="100000"/>
              </a:lnSpc>
              <a:spcBef>
                <a:spcPts val="1200"/>
              </a:spcBef>
              <a:spcAft>
                <a:spcPts val="0"/>
              </a:spcAft>
              <a:buClr>
                <a:schemeClr val="dk1"/>
              </a:buClr>
              <a:buSzPts val="2400"/>
              <a:buFont typeface="Arial"/>
              <a:buNone/>
            </a:pPr>
            <a:r>
              <a:t/>
            </a:r>
            <a:endParaRPr b="0" i="0" sz="2400" u="none">
              <a:solidFill>
                <a:schemeClr val="dk1"/>
              </a:solidFill>
              <a:latin typeface="Tahoma"/>
              <a:ea typeface="Tahoma"/>
              <a:cs typeface="Tahoma"/>
              <a:sym typeface="Tahoma"/>
            </a:endParaRPr>
          </a:p>
          <a:p>
            <a:pPr indent="0" lvl="0" marL="0" marR="0" rtl="0" algn="l">
              <a:lnSpc>
                <a:spcPct val="100000"/>
              </a:lnSpc>
              <a:spcBef>
                <a:spcPts val="1200"/>
              </a:spcBef>
              <a:spcAft>
                <a:spcPts val="0"/>
              </a:spcAft>
              <a:buClr>
                <a:schemeClr val="dk1"/>
              </a:buClr>
              <a:buSzPts val="2400"/>
              <a:buFont typeface="Arial"/>
              <a:buNone/>
            </a:pPr>
            <a:r>
              <a:t/>
            </a:r>
            <a:endParaRPr b="0" i="0" sz="2400" u="none">
              <a:solidFill>
                <a:schemeClr val="dk1"/>
              </a:solidFill>
              <a:latin typeface="Tahoma"/>
              <a:ea typeface="Tahoma"/>
              <a:cs typeface="Tahoma"/>
              <a:sym typeface="Tahoma"/>
            </a:endParaRPr>
          </a:p>
          <a:p>
            <a:pPr indent="0" lvl="0" marL="0" marR="0" rtl="0" algn="l">
              <a:lnSpc>
                <a:spcPct val="100000"/>
              </a:lnSpc>
              <a:spcBef>
                <a:spcPts val="120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(We could also introduce an error component which varies across time periods but not across groups – </a:t>
            </a:r>
            <a:r>
              <a:rPr b="0" i="1" lang="en-US" sz="2400" u="none">
                <a:solidFill>
                  <a:schemeClr val="dk1"/>
                </a:solidFill>
                <a:latin typeface="Tahoma"/>
                <a:ea typeface="Tahoma"/>
                <a:cs typeface="Tahoma"/>
                <a:sym typeface="Tahoma"/>
              </a:rPr>
              <a:t>two way random effects</a:t>
            </a:r>
            <a:r>
              <a:rPr b="0" i="0" lang="en-US" sz="2400" u="none">
                <a:solidFill>
                  <a:schemeClr val="dk1"/>
                </a:solidFill>
                <a:latin typeface="Tahoma"/>
                <a:ea typeface="Tahoma"/>
                <a:cs typeface="Tahoma"/>
                <a:sym typeface="Tahoma"/>
              </a:rPr>
              <a:t>.)</a:t>
            </a:r>
            <a:endParaRPr/>
          </a:p>
          <a:p>
            <a:pPr indent="0" lvl="0" marL="0" marR="0" rtl="0" algn="l">
              <a:lnSpc>
                <a:spcPct val="100000"/>
              </a:lnSpc>
              <a:spcBef>
                <a:spcPts val="120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Estimation of the random effects model cannot be performed by OLS – instead a technique known as </a:t>
            </a:r>
            <a:r>
              <a:rPr b="0" i="1" lang="en-US" sz="2400" u="none">
                <a:solidFill>
                  <a:schemeClr val="dk1"/>
                </a:solidFill>
                <a:latin typeface="Tahoma"/>
                <a:ea typeface="Tahoma"/>
                <a:cs typeface="Tahoma"/>
                <a:sym typeface="Tahoma"/>
              </a:rPr>
              <a:t>generalised least squares (GLS)</a:t>
            </a:r>
            <a:r>
              <a:rPr b="0" i="0" lang="en-US" sz="2400" u="none">
                <a:solidFill>
                  <a:schemeClr val="dk1"/>
                </a:solidFill>
                <a:latin typeface="Tahoma"/>
                <a:ea typeface="Tahoma"/>
                <a:cs typeface="Tahoma"/>
                <a:sym typeface="Tahoma"/>
              </a:rPr>
              <a:t> must be used.</a:t>
            </a:r>
            <a:endParaRPr/>
          </a:p>
        </p:txBody>
      </p:sp>
      <p:sp>
        <p:nvSpPr>
          <p:cNvPr id="145" name="Google Shape;145;p17"/>
          <p:cNvSpPr/>
          <p:nvPr/>
        </p:nvSpPr>
        <p:spPr>
          <a:xfrm>
            <a:off x="0" y="1957387"/>
            <a:ext cx="9144000" cy="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6" name="Google Shape;146;p17"/>
          <p:cNvSpPr/>
          <p:nvPr/>
        </p:nvSpPr>
        <p:spPr>
          <a:xfrm>
            <a:off x="0" y="1957387"/>
            <a:ext cx="9144000" cy="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147" name="Google Shape;147;p17"/>
          <p:cNvPicPr preferRelativeResize="0"/>
          <p:nvPr/>
        </p:nvPicPr>
        <p:blipFill rotWithShape="1">
          <a:blip r:embed="rId3">
            <a:alphaModFix/>
          </a:blip>
          <a:srcRect b="0" l="0" r="0" t="0"/>
          <a:stretch/>
        </p:blipFill>
        <p:spPr>
          <a:xfrm>
            <a:off x="684212" y="836612"/>
            <a:ext cx="7686675" cy="29432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1" name="Shape 151"/>
        <p:cNvGrpSpPr/>
        <p:nvPr/>
      </p:nvGrpSpPr>
      <p:grpSpPr>
        <a:xfrm>
          <a:off x="0" y="0"/>
          <a:ext cx="0" cy="0"/>
          <a:chOff x="0" y="0"/>
          <a:chExt cx="0" cy="0"/>
        </a:xfrm>
      </p:grpSpPr>
      <p:sp>
        <p:nvSpPr>
          <p:cNvPr id="152" name="Google Shape;152;p18"/>
          <p:cNvSpPr txBox="1"/>
          <p:nvPr/>
        </p:nvSpPr>
        <p:spPr>
          <a:xfrm>
            <a:off x="250825" y="476250"/>
            <a:ext cx="8713787" cy="457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53" name="Google Shape;153;p18"/>
          <p:cNvSpPr txBox="1"/>
          <p:nvPr/>
        </p:nvSpPr>
        <p:spPr>
          <a:xfrm>
            <a:off x="250825" y="404812"/>
            <a:ext cx="8642350" cy="44735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0" i="1" lang="en-US" sz="2400" u="none">
                <a:solidFill>
                  <a:schemeClr val="dk1"/>
                </a:solidFill>
                <a:latin typeface="Tahoma"/>
                <a:ea typeface="Tahoma"/>
                <a:cs typeface="Tahoma"/>
                <a:sym typeface="Tahoma"/>
              </a:rPr>
              <a:t>Choosing between Fixed Effects (FE) and Random Effects (RE)</a:t>
            </a:r>
            <a:endParaRPr/>
          </a:p>
          <a:p>
            <a:pPr indent="0" lvl="0" marL="0" marR="0" rtl="0" algn="l">
              <a:lnSpc>
                <a:spcPct val="100000"/>
              </a:lnSpc>
              <a:spcBef>
                <a:spcPts val="120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1. With large </a:t>
            </a:r>
            <a:r>
              <a:rPr b="0" i="1" lang="en-US" sz="2400" u="none">
                <a:solidFill>
                  <a:schemeClr val="dk1"/>
                </a:solidFill>
                <a:latin typeface="Tahoma"/>
                <a:ea typeface="Tahoma"/>
                <a:cs typeface="Tahoma"/>
                <a:sym typeface="Tahoma"/>
              </a:rPr>
              <a:t>T</a:t>
            </a:r>
            <a:r>
              <a:rPr b="0" i="0" lang="en-US" sz="2400" u="none">
                <a:solidFill>
                  <a:schemeClr val="dk1"/>
                </a:solidFill>
                <a:latin typeface="Tahoma"/>
                <a:ea typeface="Tahoma"/>
                <a:cs typeface="Tahoma"/>
                <a:sym typeface="Tahoma"/>
              </a:rPr>
              <a:t> and small </a:t>
            </a:r>
            <a:r>
              <a:rPr b="0" i="1" lang="en-US" sz="2400" u="none">
                <a:solidFill>
                  <a:schemeClr val="dk1"/>
                </a:solidFill>
                <a:latin typeface="Tahoma"/>
                <a:ea typeface="Tahoma"/>
                <a:cs typeface="Tahoma"/>
                <a:sym typeface="Tahoma"/>
              </a:rPr>
              <a:t>N</a:t>
            </a:r>
            <a:r>
              <a:rPr b="0" i="0" lang="en-US" sz="2400" u="none">
                <a:solidFill>
                  <a:schemeClr val="dk1"/>
                </a:solidFill>
                <a:latin typeface="Tahoma"/>
                <a:ea typeface="Tahoma"/>
                <a:cs typeface="Tahoma"/>
                <a:sym typeface="Tahoma"/>
              </a:rPr>
              <a:t> there is likely to be little difference, so FE is preferable as it is easier to compute</a:t>
            </a:r>
            <a:endParaRPr/>
          </a:p>
          <a:p>
            <a:pPr indent="0" lvl="0" marL="0" marR="0" rtl="0" algn="l">
              <a:lnSpc>
                <a:spcPct val="100000"/>
              </a:lnSpc>
              <a:spcBef>
                <a:spcPts val="120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2. With large </a:t>
            </a:r>
            <a:r>
              <a:rPr b="0" i="1" lang="en-US" sz="2400" u="none">
                <a:solidFill>
                  <a:schemeClr val="dk1"/>
                </a:solidFill>
                <a:latin typeface="Tahoma"/>
                <a:ea typeface="Tahoma"/>
                <a:cs typeface="Tahoma"/>
                <a:sym typeface="Tahoma"/>
              </a:rPr>
              <a:t>N</a:t>
            </a:r>
            <a:r>
              <a:rPr b="0" i="0" lang="en-US" sz="2400" u="none">
                <a:solidFill>
                  <a:schemeClr val="dk1"/>
                </a:solidFill>
                <a:latin typeface="Tahoma"/>
                <a:ea typeface="Tahoma"/>
                <a:cs typeface="Tahoma"/>
                <a:sym typeface="Tahoma"/>
              </a:rPr>
              <a:t> and small </a:t>
            </a:r>
            <a:r>
              <a:rPr b="0" i="1" lang="en-US" sz="2400" u="none">
                <a:solidFill>
                  <a:schemeClr val="dk1"/>
                </a:solidFill>
                <a:latin typeface="Tahoma"/>
                <a:ea typeface="Tahoma"/>
                <a:cs typeface="Tahoma"/>
                <a:sym typeface="Tahoma"/>
              </a:rPr>
              <a:t>T</a:t>
            </a:r>
            <a:r>
              <a:rPr b="0" i="0" lang="en-US" sz="2400" u="none">
                <a:solidFill>
                  <a:schemeClr val="dk1"/>
                </a:solidFill>
                <a:latin typeface="Tahoma"/>
                <a:ea typeface="Tahoma"/>
                <a:cs typeface="Tahoma"/>
                <a:sym typeface="Tahoma"/>
              </a:rPr>
              <a:t>, estimates can differ significantly. If the cross-sectional groups are a random sample of the population RE is preferable. If not the FE is preferable.</a:t>
            </a:r>
            <a:endParaRPr/>
          </a:p>
          <a:p>
            <a:pPr indent="0" lvl="0" marL="0" marR="0" rtl="0" algn="l">
              <a:lnSpc>
                <a:spcPct val="100000"/>
              </a:lnSpc>
              <a:spcBef>
                <a:spcPts val="120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3. If the error component, </a:t>
            </a:r>
            <a:r>
              <a:rPr b="0" i="1" lang="en-US" sz="2400" u="none">
                <a:solidFill>
                  <a:schemeClr val="dk1"/>
                </a:solidFill>
                <a:latin typeface="Tahoma"/>
                <a:ea typeface="Tahoma"/>
                <a:cs typeface="Tahoma"/>
                <a:sym typeface="Tahoma"/>
              </a:rPr>
              <a:t>v</a:t>
            </a:r>
            <a:r>
              <a:rPr b="0" baseline="-25000" i="1" lang="en-US" sz="2400" u="none">
                <a:solidFill>
                  <a:schemeClr val="dk1"/>
                </a:solidFill>
                <a:latin typeface="Tahoma"/>
                <a:ea typeface="Tahoma"/>
                <a:cs typeface="Tahoma"/>
                <a:sym typeface="Tahoma"/>
              </a:rPr>
              <a:t>i</a:t>
            </a:r>
            <a:r>
              <a:rPr b="0" i="1" lang="en-US" sz="2400" u="none">
                <a:solidFill>
                  <a:schemeClr val="dk1"/>
                </a:solidFill>
                <a:latin typeface="Tahoma"/>
                <a:ea typeface="Tahoma"/>
                <a:cs typeface="Tahoma"/>
                <a:sym typeface="Tahoma"/>
              </a:rPr>
              <a:t> , </a:t>
            </a:r>
            <a:r>
              <a:rPr b="0" i="0" lang="en-US" sz="2400" u="none">
                <a:solidFill>
                  <a:schemeClr val="dk1"/>
                </a:solidFill>
                <a:latin typeface="Tahoma"/>
                <a:ea typeface="Tahoma"/>
                <a:cs typeface="Tahoma"/>
                <a:sym typeface="Tahoma"/>
              </a:rPr>
              <a:t>is correlated with </a:t>
            </a:r>
            <a:r>
              <a:rPr b="0" i="1" lang="en-US" sz="2400" u="none">
                <a:solidFill>
                  <a:schemeClr val="dk1"/>
                </a:solidFill>
                <a:latin typeface="Tahoma"/>
                <a:ea typeface="Tahoma"/>
                <a:cs typeface="Tahoma"/>
                <a:sym typeface="Tahoma"/>
              </a:rPr>
              <a:t>x</a:t>
            </a:r>
            <a:r>
              <a:rPr b="0" i="0" lang="en-US" sz="2400" u="none">
                <a:solidFill>
                  <a:schemeClr val="dk1"/>
                </a:solidFill>
                <a:latin typeface="Tahoma"/>
                <a:ea typeface="Tahoma"/>
                <a:cs typeface="Tahoma"/>
                <a:sym typeface="Tahoma"/>
              </a:rPr>
              <a:t> then RE is biased, but FE is not.</a:t>
            </a:r>
            <a:endParaRPr/>
          </a:p>
          <a:p>
            <a:pPr indent="0" lvl="0" marL="0" marR="0" rtl="0" algn="l">
              <a:lnSpc>
                <a:spcPct val="100000"/>
              </a:lnSpc>
              <a:spcBef>
                <a:spcPts val="120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4. For large </a:t>
            </a:r>
            <a:r>
              <a:rPr b="0" i="1" lang="en-US" sz="2400" u="none">
                <a:solidFill>
                  <a:schemeClr val="dk1"/>
                </a:solidFill>
                <a:latin typeface="Tahoma"/>
                <a:ea typeface="Tahoma"/>
                <a:cs typeface="Tahoma"/>
                <a:sym typeface="Tahoma"/>
              </a:rPr>
              <a:t>N</a:t>
            </a:r>
            <a:r>
              <a:rPr b="0" i="0" lang="en-US" sz="2400" u="none">
                <a:solidFill>
                  <a:schemeClr val="dk1"/>
                </a:solidFill>
                <a:latin typeface="Tahoma"/>
                <a:ea typeface="Tahoma"/>
                <a:cs typeface="Tahoma"/>
                <a:sym typeface="Tahoma"/>
              </a:rPr>
              <a:t> and small </a:t>
            </a:r>
            <a:r>
              <a:rPr b="0" i="1" lang="en-US" sz="2400" u="none">
                <a:solidFill>
                  <a:schemeClr val="dk1"/>
                </a:solidFill>
                <a:latin typeface="Tahoma"/>
                <a:ea typeface="Tahoma"/>
                <a:cs typeface="Tahoma"/>
                <a:sym typeface="Tahoma"/>
              </a:rPr>
              <a:t>T</a:t>
            </a:r>
            <a:r>
              <a:rPr b="0" i="0" lang="en-US" sz="2400" u="none">
                <a:solidFill>
                  <a:schemeClr val="dk1"/>
                </a:solidFill>
                <a:latin typeface="Tahoma"/>
                <a:ea typeface="Tahoma"/>
                <a:cs typeface="Tahoma"/>
                <a:sym typeface="Tahoma"/>
              </a:rPr>
              <a:t> and if the assumptions behind RE hold then RE is more efficient than FE.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7" name="Shape 157"/>
        <p:cNvGrpSpPr/>
        <p:nvPr/>
      </p:nvGrpSpPr>
      <p:grpSpPr>
        <a:xfrm>
          <a:off x="0" y="0"/>
          <a:ext cx="0" cy="0"/>
          <a:chOff x="0" y="0"/>
          <a:chExt cx="0" cy="0"/>
        </a:xfrm>
      </p:grpSpPr>
      <p:sp>
        <p:nvSpPr>
          <p:cNvPr id="158" name="Google Shape;158;p19"/>
          <p:cNvSpPr txBox="1"/>
          <p:nvPr/>
        </p:nvSpPr>
        <p:spPr>
          <a:xfrm>
            <a:off x="250825" y="404812"/>
            <a:ext cx="8642350" cy="42910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Hausman test:</a:t>
            </a:r>
            <a:endParaRPr/>
          </a:p>
          <a:p>
            <a:pPr indent="0" lvl="0" marL="0" marR="0" rtl="0" algn="l">
              <a:lnSpc>
                <a:spcPct val="100000"/>
              </a:lnSpc>
              <a:spcBef>
                <a:spcPts val="120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Tests for the statistical significance of the difference between the coefficient estimates obtained by FE and by RE, under then null hypothesis that the RE estimates are efficient and consistent, and FE estimates are inefficient.</a:t>
            </a:r>
            <a:endParaRPr/>
          </a:p>
          <a:p>
            <a:pPr indent="0" lvl="0" marL="0" marR="0" rtl="0" algn="l">
              <a:lnSpc>
                <a:spcPct val="100000"/>
              </a:lnSpc>
              <a:spcBef>
                <a:spcPts val="120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The test has a Wald test form, and is usually reported in Chi</a:t>
            </a:r>
            <a:r>
              <a:rPr b="0" baseline="30000" i="0" lang="en-US" sz="2400" u="none">
                <a:solidFill>
                  <a:schemeClr val="dk1"/>
                </a:solidFill>
                <a:latin typeface="Tahoma"/>
                <a:ea typeface="Tahoma"/>
                <a:cs typeface="Tahoma"/>
                <a:sym typeface="Tahoma"/>
              </a:rPr>
              <a:t>2</a:t>
            </a:r>
            <a:r>
              <a:rPr b="0" i="0" lang="en-US" sz="2400" u="none">
                <a:solidFill>
                  <a:schemeClr val="dk1"/>
                </a:solidFill>
                <a:latin typeface="Tahoma"/>
                <a:ea typeface="Tahoma"/>
                <a:cs typeface="Tahoma"/>
                <a:sym typeface="Tahoma"/>
              </a:rPr>
              <a:t> form with </a:t>
            </a:r>
            <a:r>
              <a:rPr b="0" i="1" lang="en-US" sz="2400" u="none">
                <a:solidFill>
                  <a:schemeClr val="dk1"/>
                </a:solidFill>
                <a:latin typeface="Tahoma"/>
                <a:ea typeface="Tahoma"/>
                <a:cs typeface="Tahoma"/>
                <a:sym typeface="Tahoma"/>
              </a:rPr>
              <a:t>k</a:t>
            </a:r>
            <a:r>
              <a:rPr b="0" i="0" lang="en-US" sz="2400" u="none">
                <a:solidFill>
                  <a:schemeClr val="dk1"/>
                </a:solidFill>
                <a:latin typeface="Tahoma"/>
                <a:ea typeface="Tahoma"/>
                <a:cs typeface="Tahoma"/>
                <a:sym typeface="Tahoma"/>
              </a:rPr>
              <a:t>-1 degrees of freedom (</a:t>
            </a:r>
            <a:r>
              <a:rPr b="0" i="1" lang="en-US" sz="2400" u="none">
                <a:solidFill>
                  <a:schemeClr val="dk1"/>
                </a:solidFill>
                <a:latin typeface="Tahoma"/>
                <a:ea typeface="Tahoma"/>
                <a:cs typeface="Tahoma"/>
                <a:sym typeface="Tahoma"/>
              </a:rPr>
              <a:t>k </a:t>
            </a:r>
            <a:r>
              <a:rPr b="0" i="0" lang="en-US" sz="2400" u="none">
                <a:solidFill>
                  <a:schemeClr val="dk1"/>
                </a:solidFill>
                <a:latin typeface="Tahoma"/>
                <a:ea typeface="Tahoma"/>
                <a:cs typeface="Tahoma"/>
                <a:sym typeface="Tahoma"/>
              </a:rPr>
              <a:t>is the number of regressors).</a:t>
            </a:r>
            <a:endParaRPr/>
          </a:p>
          <a:p>
            <a:pPr indent="0" lvl="0" marL="0" marR="0" rtl="0" algn="l">
              <a:lnSpc>
                <a:spcPct val="100000"/>
              </a:lnSpc>
              <a:spcBef>
                <a:spcPts val="1200"/>
              </a:spcBef>
              <a:spcAft>
                <a:spcPts val="0"/>
              </a:spcAft>
              <a:buClr>
                <a:schemeClr val="dk1"/>
              </a:buClr>
              <a:buSzPts val="2400"/>
              <a:buFont typeface="Tahoma"/>
              <a:buNone/>
            </a:pPr>
            <a:r>
              <a:rPr b="0" i="0" lang="en-US" sz="2400" u="none">
                <a:solidFill>
                  <a:schemeClr val="dk1"/>
                </a:solidFill>
                <a:latin typeface="Tahoma"/>
                <a:ea typeface="Tahoma"/>
                <a:cs typeface="Tahoma"/>
                <a:sym typeface="Tahoma"/>
              </a:rPr>
              <a:t>If W &lt; critical value then </a:t>
            </a:r>
            <a:r>
              <a:rPr b="0" i="1" lang="en-US" sz="2400" u="none">
                <a:solidFill>
                  <a:schemeClr val="dk1"/>
                </a:solidFill>
                <a:latin typeface="Tahoma"/>
                <a:ea typeface="Tahoma"/>
                <a:cs typeface="Tahoma"/>
                <a:sym typeface="Tahoma"/>
              </a:rPr>
              <a:t>random effects is the preferred estimator</a:t>
            </a:r>
            <a:r>
              <a:rPr b="0" i="0" lang="en-US" sz="2400" u="none">
                <a:solidFill>
                  <a:schemeClr val="dk1"/>
                </a:solidFill>
                <a:latin typeface="Tahoma"/>
                <a:ea typeface="Tahoma"/>
                <a:cs typeface="Tahoma"/>
                <a:sym typeface="Tahoma"/>
              </a:rPr>
              <a: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2" name="Shape 162"/>
        <p:cNvGrpSpPr/>
        <p:nvPr/>
      </p:nvGrpSpPr>
      <p:grpSpPr>
        <a:xfrm>
          <a:off x="0" y="0"/>
          <a:ext cx="0" cy="0"/>
          <a:chOff x="0" y="0"/>
          <a:chExt cx="0" cy="0"/>
        </a:xfrm>
      </p:grpSpPr>
      <p:sp>
        <p:nvSpPr>
          <p:cNvPr id="163" name="Google Shape;163;p2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Autocorrelation</a:t>
            </a:r>
            <a:endParaRPr/>
          </a:p>
        </p:txBody>
      </p:sp>
      <p:sp>
        <p:nvSpPr>
          <p:cNvPr id="164" name="Google Shape;164;p2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Although different to autocorrelation using the usual OLS models, a version of the Durbin-Watson test can be used in the usual way. (E-views reports this).</a:t>
            </a:r>
            <a:endParaRPr/>
          </a:p>
          <a:p>
            <a:pPr indent="-342900" lvl="0" marL="342900" marR="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To remedy autocorrelation we can use the usual methods, such as the Error Correction Model.</a:t>
            </a:r>
            <a:endParaRPr/>
          </a:p>
          <a:p>
            <a:pPr indent="-342900" lvl="0" marL="342900" marR="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‘Dynamic Models’ are also often used, which basically involves adding a lagged dependent variable.</a:t>
            </a:r>
            <a:endParaRPr/>
          </a:p>
          <a:p>
            <a:pPr indent="-342900" lvl="0" marL="342900" marR="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Recently the use of a method for adjusting the standard errors has become popular, the most common method is termed the ‘Newey-West’ adjusted standard errors.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8" name="Shape 168"/>
        <p:cNvGrpSpPr/>
        <p:nvPr/>
      </p:nvGrpSpPr>
      <p:grpSpPr>
        <a:xfrm>
          <a:off x="0" y="0"/>
          <a:ext cx="0" cy="0"/>
          <a:chOff x="0" y="0"/>
          <a:chExt cx="0" cy="0"/>
        </a:xfrm>
      </p:grpSpPr>
      <p:sp>
        <p:nvSpPr>
          <p:cNvPr id="169" name="Google Shape;169;p2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Heteroskedasticity</a:t>
            </a:r>
            <a:endParaRPr/>
          </a:p>
        </p:txBody>
      </p:sp>
      <p:sp>
        <p:nvSpPr>
          <p:cNvPr id="170" name="Google Shape;170;p2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Given that there is a cross-section component to panel data, there will always be a potential for heteroskedasticity.</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Although there are various tests for heteroskedastcity, as with autocorrelation there is a tendency to automatically use adjusted standard errors, which remove the problem.</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Arial"/>
                <a:ea typeface="Arial"/>
                <a:cs typeface="Arial"/>
                <a:sym typeface="Arial"/>
              </a:rPr>
              <a:t>With heteroskedasticity, it is usually White’s adjusted standard errors that are used.</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4" name="Shape 174"/>
        <p:cNvGrpSpPr/>
        <p:nvPr/>
      </p:nvGrpSpPr>
      <p:grpSpPr>
        <a:xfrm>
          <a:off x="0" y="0"/>
          <a:ext cx="0" cy="0"/>
          <a:chOff x="0" y="0"/>
          <a:chExt cx="0" cy="0"/>
        </a:xfrm>
      </p:grpSpPr>
      <p:sp>
        <p:nvSpPr>
          <p:cNvPr id="175" name="Google Shape;175;p22"/>
          <p:cNvSpPr txBox="1"/>
          <p:nvPr>
            <p:ph idx="4294967295" type="title"/>
          </p:nvPr>
        </p:nvSpPr>
        <p:spPr>
          <a:xfrm>
            <a:off x="457200" y="274637"/>
            <a:ext cx="8229600" cy="1143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Example</a:t>
            </a:r>
            <a:endParaRPr/>
          </a:p>
        </p:txBody>
      </p:sp>
      <p:sp>
        <p:nvSpPr>
          <p:cNvPr id="176" name="Google Shape;176;p22"/>
          <p:cNvSpPr txBox="1"/>
          <p:nvPr>
            <p:ph idx="4294967295" type="body"/>
          </p:nvPr>
        </p:nvSpPr>
        <p:spPr>
          <a:xfrm>
            <a:off x="457200" y="1600200"/>
            <a:ext cx="7643812" cy="19732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The data consists of 20 countries over 10 years of annual data, giving 200 observations in all (T=200). This produces the following result, where stock prices are regressed against expenditure on research (r ):</a:t>
            </a:r>
            <a:endParaRPr/>
          </a:p>
        </p:txBody>
      </p:sp>
      <p:pic>
        <p:nvPicPr>
          <p:cNvPr id="177" name="Google Shape;177;p22"/>
          <p:cNvPicPr preferRelativeResize="0"/>
          <p:nvPr>
            <p:ph idx="4294967295" type="body"/>
          </p:nvPr>
        </p:nvPicPr>
        <p:blipFill rotWithShape="1">
          <a:blip r:embed="rId3">
            <a:alphaModFix/>
          </a:blip>
          <a:srcRect b="0" l="0" r="0" t="0"/>
          <a:stretch/>
        </p:blipFill>
        <p:spPr>
          <a:xfrm>
            <a:off x="2124075" y="3933825"/>
            <a:ext cx="4038600" cy="221773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1" name="Shape 181"/>
        <p:cNvGrpSpPr/>
        <p:nvPr/>
      </p:nvGrpSpPr>
      <p:grpSpPr>
        <a:xfrm>
          <a:off x="0" y="0"/>
          <a:ext cx="0" cy="0"/>
          <a:chOff x="0" y="0"/>
          <a:chExt cx="0" cy="0"/>
        </a:xfrm>
      </p:grpSpPr>
      <p:sp>
        <p:nvSpPr>
          <p:cNvPr id="182" name="Google Shape;182;p2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Example</a:t>
            </a:r>
            <a:endParaRPr/>
          </a:p>
        </p:txBody>
      </p:sp>
      <p:sp>
        <p:nvSpPr>
          <p:cNvPr id="183" name="Google Shape;183;p2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The results are interpreted in the usual way, however you would need to decide whether you wished to use fixed or random effects in this model.</a:t>
            </a:r>
            <a:endParaRPr/>
          </a:p>
          <a:p>
            <a:pPr indent="-342900" lvl="0" marL="342900" marR="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This requires including random effects, then using the Hausman test to determine if the random effects applies. If the null hypothesis is rejected, then the fixed effects model is more appropriate.</a:t>
            </a:r>
            <a:endParaRPr/>
          </a:p>
          <a:p>
            <a:pPr indent="-342900" lvl="0" marL="342900" marR="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Arial"/>
                <a:ea typeface="Arial"/>
                <a:cs typeface="Arial"/>
                <a:sym typeface="Arial"/>
              </a:rPr>
              <a:t>This is an example of a basic OLS panel data model, you can apply all the other models to panel data too, although it usually requires separate tests. (i.e. the test for cointegration)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7" name="Shape 187"/>
        <p:cNvGrpSpPr/>
        <p:nvPr/>
      </p:nvGrpSpPr>
      <p:grpSpPr>
        <a:xfrm>
          <a:off x="0" y="0"/>
          <a:ext cx="0" cy="0"/>
          <a:chOff x="0" y="0"/>
          <a:chExt cx="0" cy="0"/>
        </a:xfrm>
      </p:grpSpPr>
      <p:sp>
        <p:nvSpPr>
          <p:cNvPr id="188" name="Google Shape;188;p2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2"/>
              </a:buClr>
              <a:buSzPts val="4400"/>
              <a:buFont typeface="Arial"/>
              <a:buNone/>
            </a:pPr>
            <a:r>
              <a:rPr b="0" i="0" lang="en-US" sz="4400" u="none">
                <a:solidFill>
                  <a:schemeClr val="dk2"/>
                </a:solidFill>
                <a:latin typeface="Arial"/>
                <a:ea typeface="Arial"/>
                <a:cs typeface="Arial"/>
                <a:sym typeface="Arial"/>
              </a:rPr>
              <a:t>Conclusion</a:t>
            </a:r>
            <a:endParaRPr/>
          </a:p>
        </p:txBody>
      </p:sp>
      <p:sp>
        <p:nvSpPr>
          <p:cNvPr id="189" name="Google Shape;189;p2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Panel data is a method for estimating data which is both time series and cross sectional</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It has both advantages but also disadvantages over OLS estimation</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Arial"/>
                <a:ea typeface="Arial"/>
                <a:cs typeface="Arial"/>
                <a:sym typeface="Arial"/>
              </a:rPr>
              <a:t>It applies to many different techniques, such as tests for stationarity</a:t>
            </a:r>
            <a:endParaRPr/>
          </a:p>
        </p:txBody>
      </p:sp>
    </p:spTree>
  </p:cSld>
  <p:clrMapOvr>
    <a:masterClrMapping/>
  </p:clrMapOvr>
</p:sld>
</file>

<file path=ppt/theme/theme1.xml><?xml version="1.0" encoding="utf-8"?>
<a:theme xmlns:a="http://schemas.openxmlformats.org/drawingml/2006/main" xmlns:r="http://schemas.openxmlformats.org/officeDocument/2006/relationships" name="Default Design">
  <a:themeElements>
    <a:clrScheme name="Default Design">
      <a:dk1>
        <a:srgbClr val="000000"/>
      </a:dk1>
      <a:lt1>
        <a:srgbClr val="FFFFFF"/>
      </a:lt1>
      <a:dk2>
        <a:srgbClr val="000000"/>
      </a:dk2>
      <a:lt2>
        <a:srgbClr val="808080"/>
      </a:lt2>
      <a:accent1>
        <a:srgbClr val="BBE0E3"/>
      </a:accent1>
      <a:accent2>
        <a:srgbClr val="333399"/>
      </a:accent2>
      <a:accent3>
        <a:srgbClr val="FFFFFF"/>
      </a:accent3>
      <a:accent4>
        <a:srgbClr val="BBE0E3"/>
      </a:accent4>
      <a:accent5>
        <a:srgbClr val="333399"/>
      </a:accent5>
      <a:accent6>
        <a:srgbClr val="FFFFFF"/>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