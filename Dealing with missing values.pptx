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7825e5751f2a3a4a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7825e5751f2a3a4a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7825e5751f2a3a4a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7825e5751f2a3a4a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7825e5751f2a3a4a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7825e5751f2a3a4a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825e5751f2a3a4a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825e5751f2a3a4a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7825e5751f2a3a4a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7825e5751f2a3a4a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825e5751f2a3a4a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825e5751f2a3a4a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7825e5751f2a3a4a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7825e5751f2a3a4a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7825e5751f2a3a4a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7825e5751f2a3a4a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7825e5751f2a3a4a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7825e5751f2a3a4a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7825e5751f2a3a4a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7825e5751f2a3a4a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7825e5751f2a3a4a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7825e5751f2a3a4a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7825e5751f2a3a4a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7825e5751f2a3a4a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7825e5751f2a3a4a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7825e5751f2a3a4a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7825e5751f2a3a4a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7825e5751f2a3a4a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7825e5751f2a3a4a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7825e5751f2a3a4a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7825e5751f2a3a4a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7825e5751f2a3a4a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7825e5751f2a3a4a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7825e5751f2a3a4a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7825e5751f2a3a4a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7825e5751f2a3a4a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7825e5751f2a3a4a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7825e5751f2a3a4a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7825e5751f2a3a4a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7825e5751f2a3a4a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7825e5751f2a3a4a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7825e5751f2a3a4a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7825e5751f2a3a4a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7825e5751f2a3a4a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 Guide for Efficient Data Cleaning in Stata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Why It Matters: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Missing values affect model performance.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Efficient handling ensures reliable results.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Objective:</a:t>
            </a:r>
            <a:r>
              <a:rPr lang="en" sz="1100">
                <a:solidFill>
                  <a:schemeClr val="dk1"/>
                </a:solidFill>
              </a:rPr>
              <a:t> Overview of methods to handle missing data.</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Missing Values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MCAR:</a:t>
            </a:r>
            <a:r>
              <a:rPr lang="en" sz="1100">
                <a:solidFill>
                  <a:schemeClr val="dk1"/>
                </a:solidFill>
              </a:rPr>
              <a:t> Missing Completely at Random</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MAR:</a:t>
            </a:r>
            <a:r>
              <a:rPr lang="en" sz="1100">
                <a:solidFill>
                  <a:schemeClr val="dk1"/>
                </a:solidFill>
              </a:rPr>
              <a:t> Missing at Random</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MNAR:</a:t>
            </a:r>
            <a:r>
              <a:rPr lang="en" sz="1100">
                <a:solidFill>
                  <a:schemeClr val="dk1"/>
                </a:solidFill>
              </a:rPr>
              <a:t> Missing Not at Random</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care about missing values?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Many machine learning algorithms fail if the dataset contains missing values. However, algorithms like K-nearest and Naive Bayes support data with missing values.</a:t>
            </a:r>
            <a:endParaRPr/>
          </a:p>
          <a:p>
            <a:pPr indent="-342900" lvl="0" marL="457200" rtl="0" algn="l">
              <a:spcBef>
                <a:spcPts val="0"/>
              </a:spcBef>
              <a:spcAft>
                <a:spcPts val="0"/>
              </a:spcAft>
              <a:buSzPts val="1800"/>
              <a:buChar char="●"/>
            </a:pPr>
            <a:r>
              <a:rPr lang="en"/>
              <a:t>You may end up building a biased machine learning model, leading to incorrect results if the missing values are not handled properly.</a:t>
            </a:r>
            <a:endParaRPr/>
          </a:p>
          <a:p>
            <a:pPr indent="-342900" lvl="0" marL="457200" rtl="0" algn="l">
              <a:spcBef>
                <a:spcPts val="0"/>
              </a:spcBef>
              <a:spcAft>
                <a:spcPts val="0"/>
              </a:spcAft>
              <a:buSzPts val="1800"/>
              <a:buChar char="●"/>
            </a:pPr>
            <a:r>
              <a:rPr lang="en"/>
              <a:t>Missing data can lead to a lack of precision in the statistical analysis.</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MCAR in Detail</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a:t>No relationship between missing data and other variables.</a:t>
            </a:r>
            <a:endParaRPr/>
          </a:p>
          <a:p>
            <a:pPr indent="-298450" lvl="0" marL="457200" rtl="0" algn="l">
              <a:spcBef>
                <a:spcPts val="0"/>
              </a:spcBef>
              <a:spcAft>
                <a:spcPts val="0"/>
              </a:spcAft>
              <a:buClr>
                <a:schemeClr val="dk1"/>
              </a:buClr>
              <a:buSzPts val="1100"/>
              <a:buChar char="●"/>
            </a:pPr>
            <a:r>
              <a:rPr lang="en"/>
              <a:t>Example: Random survey responses missing.</a:t>
            </a:r>
            <a:endParaRPr/>
          </a:p>
          <a:p>
            <a:pPr indent="0" lvl="0" marL="0" rtl="0" algn="l">
              <a:spcBef>
                <a:spcPts val="1200"/>
              </a:spcBef>
              <a:spcAft>
                <a:spcPts val="0"/>
              </a:spcAft>
              <a:buNone/>
            </a:pPr>
            <a:r>
              <a:rPr lang="en"/>
              <a:t>Eg.</a:t>
            </a:r>
            <a:endParaRPr/>
          </a:p>
          <a:p>
            <a:pPr indent="0" lvl="0" marL="0" rtl="0" algn="l">
              <a:spcBef>
                <a:spcPts val="1200"/>
              </a:spcBef>
              <a:spcAft>
                <a:spcPts val="1200"/>
              </a:spcAft>
              <a:buNone/>
            </a:pPr>
            <a:r>
              <a:rPr lang="en"/>
              <a:t>E.g., Suppose that after the customer service call ends, we would be asked to give ratings to the customer representative. Not all the customers would do this and any customer who decides to give feedback is completely random irrespective of their experience or any other factors. In this case the missing values in the feedback column would be an MCAR.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 in Detail</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a:t>Missingness explained by other observed data.</a:t>
            </a:r>
            <a:endParaRPr/>
          </a:p>
          <a:p>
            <a:pPr indent="-298450" lvl="0" marL="457200" rtl="0" algn="l">
              <a:spcBef>
                <a:spcPts val="0"/>
              </a:spcBef>
              <a:spcAft>
                <a:spcPts val="0"/>
              </a:spcAft>
              <a:buClr>
                <a:schemeClr val="dk1"/>
              </a:buClr>
              <a:buSzPts val="1100"/>
              <a:buChar char="●"/>
            </a:pPr>
            <a:r>
              <a:rPr lang="en"/>
              <a:t>Example: Gender influencing survey responses.</a:t>
            </a:r>
            <a:endParaRPr/>
          </a:p>
          <a:p>
            <a:pPr indent="0" lvl="0" marL="0" rtl="0" algn="l">
              <a:spcBef>
                <a:spcPts val="1200"/>
              </a:spcBef>
              <a:spcAft>
                <a:spcPts val="0"/>
              </a:spcAft>
              <a:buNone/>
            </a:pPr>
            <a:r>
              <a:rPr lang="en"/>
              <a:t>Eg. </a:t>
            </a:r>
            <a:br>
              <a:rPr lang="en"/>
            </a:br>
            <a:r>
              <a:rPr lang="en"/>
              <a:t>For e.g., suppose a survey is taken at a dermatology clinic where the gender and their skincare routine is asked. Assume that most of the females answer the survey whereas men are less likely to answer. So here, why the data is missing could be explained by the factor, that is gender. In this case, the missing data in the skincare routine column is MAR.</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MNAR in Detail</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Missing values related to unobserved data.</a:t>
            </a:r>
            <a:endParaRPr/>
          </a:p>
          <a:p>
            <a:pPr indent="0" lvl="0" marL="0" rtl="0" algn="l">
              <a:spcBef>
                <a:spcPts val="1200"/>
              </a:spcBef>
              <a:spcAft>
                <a:spcPts val="0"/>
              </a:spcAft>
              <a:buNone/>
            </a:pPr>
            <a:r>
              <a:rPr lang="en"/>
              <a:t>Example: High-income individuals not disclosing income.</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Eg.</a:t>
            </a:r>
            <a:br>
              <a:rPr lang="en"/>
            </a:br>
            <a:r>
              <a:rPr lang="en"/>
              <a:t>For example people having more income may refuse to share the exact information in a survey or questionnaire.</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Identifying Missing Data in Stata</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lang="en">
                <a:solidFill>
                  <a:schemeClr val="dk1"/>
                </a:solidFill>
              </a:rPr>
              <a:t>Use </a:t>
            </a:r>
            <a:r>
              <a:rPr lang="en">
                <a:solidFill>
                  <a:srgbClr val="188038"/>
                </a:solidFill>
                <a:latin typeface="Roboto Mono"/>
                <a:ea typeface="Roboto Mono"/>
                <a:cs typeface="Roboto Mono"/>
                <a:sym typeface="Roboto Mono"/>
              </a:rPr>
              <a:t>misstable summarize</a:t>
            </a:r>
            <a:r>
              <a:rPr lang="en">
                <a:solidFill>
                  <a:schemeClr val="dk1"/>
                </a:solidFill>
              </a:rPr>
              <a:t> for an overview.</a:t>
            </a:r>
            <a:endParaRPr>
              <a:solidFill>
                <a:schemeClr val="dk1"/>
              </a:solidFill>
            </a:endParaRPr>
          </a:p>
          <a:p>
            <a:pPr indent="0" lvl="0" marL="0" rtl="0" algn="l">
              <a:spcBef>
                <a:spcPts val="1200"/>
              </a:spcBef>
              <a:spcAft>
                <a:spcPts val="0"/>
              </a:spcAft>
              <a:buNone/>
            </a:pPr>
            <a:r>
              <a:rPr lang="en">
                <a:solidFill>
                  <a:schemeClr val="dk1"/>
                </a:solidFill>
              </a:rPr>
              <a:t>Example Command:</a:t>
            </a:r>
            <a:br>
              <a:rPr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misstable summarize</a:t>
            </a:r>
            <a:endParaRPr>
              <a:solidFill>
                <a:srgbClr val="188038"/>
              </a:solidFill>
              <a:latin typeface="Roboto Mono"/>
              <a:ea typeface="Roboto Mono"/>
              <a:cs typeface="Roboto Mono"/>
              <a:sym typeface="Roboto Mono"/>
            </a:endParaRPr>
          </a:p>
          <a:p>
            <a:pPr indent="-342900" lvl="0" marL="457200" rtl="0" algn="l">
              <a:spcBef>
                <a:spcPts val="1200"/>
              </a:spcBef>
              <a:spcAft>
                <a:spcPts val="0"/>
              </a:spcAft>
              <a:buClr>
                <a:schemeClr val="dk1"/>
              </a:buClr>
              <a:buSzPts val="1800"/>
              <a:buChar char="●"/>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Deleting Columns</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When to Use:</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High proportion of missing data.</a:t>
            </a:r>
            <a:endParaRPr sz="1800">
              <a:solidFill>
                <a:schemeClr val="dk1"/>
              </a:solidFill>
            </a:endParaRPr>
          </a:p>
          <a:p>
            <a:pPr indent="0" lvl="0" marL="0" rtl="0" algn="l">
              <a:spcBef>
                <a:spcPts val="1200"/>
              </a:spcBef>
              <a:spcAft>
                <a:spcPts val="0"/>
              </a:spcAft>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drop varname</a:t>
            </a:r>
            <a:endParaRPr>
              <a:solidFill>
                <a:srgbClr val="188038"/>
              </a:solidFill>
              <a:latin typeface="Roboto Mono"/>
              <a:ea typeface="Roboto Mono"/>
              <a:cs typeface="Roboto Mono"/>
              <a:sym typeface="Roboto Mono"/>
            </a:endParaRPr>
          </a:p>
          <a:p>
            <a:pPr indent="-342900" lvl="0" marL="457200" rtl="0" algn="l">
              <a:spcBef>
                <a:spcPts val="1200"/>
              </a:spcBef>
              <a:spcAft>
                <a:spcPts val="0"/>
              </a:spcAft>
              <a:buClr>
                <a:schemeClr val="dk1"/>
              </a:buClr>
              <a:buSzPts val="1800"/>
              <a:buChar char="●"/>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Deleting Rows</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When to Use:</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Limited missing rows across dataset.</a:t>
            </a:r>
            <a:endParaRPr sz="1800">
              <a:solidFill>
                <a:schemeClr val="dk1"/>
              </a:solidFill>
            </a:endParaRPr>
          </a:p>
          <a:p>
            <a:pPr indent="0" lvl="0" marL="0" rtl="0" algn="l">
              <a:spcBef>
                <a:spcPts val="1200"/>
              </a:spcBef>
              <a:spcAft>
                <a:spcPts val="0"/>
              </a:spcAft>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drop if missing(varname)</a:t>
            </a:r>
            <a:endParaRPr>
              <a:solidFill>
                <a:srgbClr val="188038"/>
              </a:solidFill>
              <a:latin typeface="Roboto Mono"/>
              <a:ea typeface="Roboto Mono"/>
              <a:cs typeface="Roboto Mono"/>
              <a:sym typeface="Roboto Mono"/>
            </a:endParaRPr>
          </a:p>
          <a:p>
            <a:pPr indent="-342900" lvl="0" marL="457200" rtl="0" algn="l">
              <a:spcBef>
                <a:spcPts val="1200"/>
              </a:spcBef>
              <a:spcAft>
                <a:spcPts val="0"/>
              </a:spcAft>
              <a:buClr>
                <a:schemeClr val="dk1"/>
              </a:buClr>
              <a:buSzPts val="1800"/>
              <a:buChar char="●"/>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Imputing with Mean/Median</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Replace numeric missing values with column mean/median.</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replace varname = r(mean) if missing(varname)</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Group-Level Imputation</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Use mean/median within groups.</a:t>
            </a:r>
            <a:endParaRPr>
              <a:solidFill>
                <a:schemeClr val="dk1"/>
              </a:solidFill>
            </a:endParaRPr>
          </a:p>
          <a:p>
            <a:pPr indent="0" lvl="0" marL="0" rtl="0" algn="l">
              <a:spcBef>
                <a:spcPts val="1200"/>
              </a:spcBef>
              <a:spcAft>
                <a:spcPts val="0"/>
              </a:spcAft>
              <a:buNone/>
            </a:pPr>
            <a:r>
              <a:rPr b="1" lang="en">
                <a:solidFill>
                  <a:schemeClr val="dk1"/>
                </a:solidFill>
              </a:rPr>
              <a:t>Stata Example:</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egen groupmean = mean(varname), by(groupvar)</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replace varname = groupmean if missing(varname)</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Imputing Categorical Columns</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Replace with most frequent category or a new category.</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replace varname = "new_category" if missing(varname)</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Forward/Backward Fill</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Fill values based on preceding or succeeding data.</a:t>
            </a:r>
            <a:endParaRPr>
              <a:solidFill>
                <a:schemeClr val="dk1"/>
              </a:solidFill>
            </a:endParaRPr>
          </a:p>
          <a:p>
            <a:pPr indent="0" lvl="0" marL="0" rtl="0" algn="l">
              <a:spcBef>
                <a:spcPts val="1200"/>
              </a:spcBef>
              <a:spcAft>
                <a:spcPts val="0"/>
              </a:spcAft>
              <a:buNone/>
            </a:pPr>
            <a:r>
              <a:rPr b="1" lang="en">
                <a:solidFill>
                  <a:schemeClr val="dk1"/>
                </a:solidFill>
              </a:rPr>
              <a:t>Stata Example:</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replace varname = varname[_n-1] if missing(varname) // Forward Fill</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replace varname = varname[_n+1] if missing(varname) // Backward Fill</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Interpolation</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Estimate missing values using trends in data.</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Command:</a:t>
            </a:r>
            <a:br>
              <a:rPr lang="en">
                <a:solidFill>
                  <a:schemeClr val="dk1"/>
                </a:solidFill>
              </a:rPr>
            </a:br>
            <a:r>
              <a:rPr lang="en">
                <a:solidFill>
                  <a:srgbClr val="188038"/>
                </a:solidFill>
                <a:latin typeface="Roboto Mono"/>
                <a:ea typeface="Roboto Mono"/>
                <a:cs typeface="Roboto Mono"/>
                <a:sym typeface="Roboto Mono"/>
              </a:rPr>
              <a:t>ipolate varname timevar, gen(newvar)</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Regression-Based Imputation</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Predict missing values using regression.</a:t>
            </a:r>
            <a:endParaRPr>
              <a:solidFill>
                <a:schemeClr val="dk1"/>
              </a:solidFill>
            </a:endParaRPr>
          </a:p>
          <a:p>
            <a:pPr indent="0" lvl="0" marL="0" rtl="0" algn="l">
              <a:spcBef>
                <a:spcPts val="1200"/>
              </a:spcBef>
              <a:spcAft>
                <a:spcPts val="0"/>
              </a:spcAft>
              <a:buNone/>
            </a:pPr>
            <a:r>
              <a:rPr b="1" lang="en">
                <a:solidFill>
                  <a:schemeClr val="dk1"/>
                </a:solidFill>
              </a:rPr>
              <a:t>Stata Commands:</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regress targetvar predictors_missing  </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predict newvar if missing(targetvar)</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Imputation (MICE)</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Iteratively impute missing data.</a:t>
            </a:r>
            <a:endParaRPr>
              <a:solidFill>
                <a:schemeClr val="dk1"/>
              </a:solidFill>
            </a:endParaRPr>
          </a:p>
          <a:p>
            <a:pPr indent="0" lvl="0" marL="0" rtl="0" algn="l">
              <a:spcBef>
                <a:spcPts val="1200"/>
              </a:spcBef>
              <a:spcAft>
                <a:spcPts val="0"/>
              </a:spcAft>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mi set wide  </a:t>
            </a:r>
            <a:endParaRPr>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a:solidFill>
                  <a:srgbClr val="188038"/>
                </a:solidFill>
                <a:latin typeface="Roboto Mono"/>
                <a:ea typeface="Roboto Mono"/>
                <a:cs typeface="Roboto Mono"/>
                <a:sym typeface="Roboto Mono"/>
              </a:rPr>
              <a:t>mi register imputed varname  </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mi impute regress varname = predictors, add(5)</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KNN Imputation</a:t>
            </a:r>
            <a:endParaRPr/>
          </a:p>
        </p:txBody>
      </p:sp>
      <p:sp>
        <p:nvSpPr>
          <p:cNvPr id="157" name="Google Shape;157;p30"/>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Estimate missing values using nearest neighbors.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Alternative:</a:t>
            </a:r>
            <a:r>
              <a:rPr lang="en">
                <a:solidFill>
                  <a:schemeClr val="dk1"/>
                </a:solidFill>
              </a:rPr>
              <a:t> Not directly available; preprocess in Python/R.</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“Missingness” as a Feature</a:t>
            </a:r>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some cases, while imputing missing values, you can preserve information about which values were missing and use that as a feature. This is because sometimes, there may be a relationship between the reason for missing values (also called the “missingness”) and the target variable you are trying to predict. In such cases, you can add a missing indicator to encode the “missingness” as a feature in the imputed data set.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to use missingness as a feature</a:t>
            </a:r>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Suppose you are predicting the presence of a disease. Now, imagine a scenario where a missing age is a good predictor of the disease because we don’t have records for people in poverty. The age values are not missing at random. They are missing for people in poverty, and poverty is a good predictor of disease. Thus, missing age or “missingness” is a good predictor of disease.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Pros and Cons of Methods</a:t>
            </a:r>
            <a:endParaRPr/>
          </a:p>
        </p:txBody>
      </p:sp>
      <p:sp>
        <p:nvSpPr>
          <p:cNvPr id="175" name="Google Shape;17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Deleting:</a:t>
            </a:r>
            <a:r>
              <a:rPr lang="en">
                <a:solidFill>
                  <a:schemeClr val="dk1"/>
                </a:solidFill>
              </a:rPr>
              <a:t> Quick but risks losing data.</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Imputation:</a:t>
            </a:r>
            <a:r>
              <a:rPr lang="en">
                <a:solidFill>
                  <a:schemeClr val="dk1"/>
                </a:solidFill>
              </a:rPr>
              <a:t> Retains data but may introduce bias.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Model-Based:</a:t>
            </a:r>
            <a:r>
              <a:rPr lang="en">
                <a:solidFill>
                  <a:schemeClr val="dk1"/>
                </a:solidFill>
              </a:rPr>
              <a:t> Requires computation and assumptions.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Tips</a:t>
            </a:r>
            <a:endParaRPr/>
          </a:p>
        </p:txBody>
      </p:sp>
      <p:sp>
        <p:nvSpPr>
          <p:cNvPr id="181" name="Google Shape;18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Assess missing data patterns with domain knowledge.</a:t>
            </a:r>
            <a:endParaRPr/>
          </a:p>
          <a:p>
            <a:pPr indent="0" lvl="0" marL="0" rtl="0" algn="l">
              <a:spcBef>
                <a:spcPts val="1200"/>
              </a:spcBef>
              <a:spcAft>
                <a:spcPts val="0"/>
              </a:spcAft>
              <a:buClr>
                <a:schemeClr val="dk1"/>
              </a:buClr>
              <a:buSzPts val="1100"/>
              <a:buFont typeface="Arial"/>
              <a:buNone/>
            </a:pPr>
            <a:r>
              <a:rPr lang="en"/>
              <a:t>Test multiple methods for optimal results.</a:t>
            </a:r>
            <a:endParaRPr/>
          </a:p>
          <a:p>
            <a:pPr indent="0" lvl="0" marL="0" rtl="0" algn="l">
              <a:spcBef>
                <a:spcPts val="1200"/>
              </a:spcBef>
              <a:spcAft>
                <a:spcPts val="0"/>
              </a:spcAft>
              <a:buClr>
                <a:schemeClr val="dk1"/>
              </a:buClr>
              <a:buSzPts val="1100"/>
              <a:buFont typeface="Arial"/>
              <a:buNone/>
            </a:pPr>
            <a:r>
              <a:rPr lang="en"/>
              <a:t>Document the handling process clearly.</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87" name="Google Shape;18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Summary:</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Choose methods based on data type and pattern.</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Understand data context for effective handling.</a:t>
            </a:r>
            <a:endParaRPr sz="1800">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Next Steps:</a:t>
            </a:r>
            <a:r>
              <a:rPr lang="en">
                <a:solidFill>
                  <a:schemeClr val="dk1"/>
                </a:solidFill>
              </a:rPr>
              <a:t> Apply methods in your analysis using Stata.</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