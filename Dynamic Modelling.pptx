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Mon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786469fe2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786469fe2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786469fe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786469f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786469fe2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3786469fe2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3786469fe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3786469fe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3786469fe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3786469fe2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3786469fe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3786469fe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3786469fe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3786469fe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3786469fe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3786469fe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3786469fe2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3786469fe2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3786469fe2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3786469fe2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3786469fe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3786469fe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3786469fe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3786469fe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3786469fe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3786469fe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3786469fe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3786469fe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786469fe2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786469fe2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3786469fe2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3786469fe2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3786469fe2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3786469fe2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3786469fe2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3786469fe2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3786469fe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3786469fe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3786469fe2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3786469fe2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Dynamic Modelling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Understand what is a Dynamic model</a:t>
            </a:r>
            <a:endParaRPr/>
          </a:p>
          <a:p>
            <a:pPr indent="-342900" lvl="0" marL="457200" rtl="0" algn="l">
              <a:spcBef>
                <a:spcPts val="0"/>
              </a:spcBef>
              <a:spcAft>
                <a:spcPts val="0"/>
              </a:spcAft>
              <a:buSzPts val="1800"/>
              <a:buAutoNum type="arabicPeriod"/>
            </a:pPr>
            <a:r>
              <a:rPr lang="en"/>
              <a:t>Understand the difference between a Difference GMM and a system GMM</a:t>
            </a:r>
            <a:endParaRPr/>
          </a:p>
          <a:p>
            <a:pPr indent="-342900" lvl="0" marL="457200" rtl="0" algn="l">
              <a:spcBef>
                <a:spcPts val="0"/>
              </a:spcBef>
              <a:spcAft>
                <a:spcPts val="0"/>
              </a:spcAft>
              <a:buSzPts val="1800"/>
              <a:buAutoNum type="arabicPeriod"/>
            </a:pPr>
            <a:r>
              <a:rPr lang="en"/>
              <a:t>FIt a one-step difference GMM</a:t>
            </a:r>
            <a:endParaRPr/>
          </a:p>
          <a:p>
            <a:pPr indent="-342900" lvl="0" marL="457200" rtl="0" algn="l">
              <a:spcBef>
                <a:spcPts val="0"/>
              </a:spcBef>
              <a:spcAft>
                <a:spcPts val="0"/>
              </a:spcAft>
              <a:buSzPts val="1800"/>
              <a:buAutoNum type="arabicPeriod"/>
            </a:pPr>
            <a:r>
              <a:rPr lang="en"/>
              <a:t>Fit a two step Difference GMM</a:t>
            </a:r>
            <a:endParaRPr/>
          </a:p>
          <a:p>
            <a:pPr indent="-342900" lvl="0" marL="457200" rtl="0" algn="l">
              <a:spcBef>
                <a:spcPts val="0"/>
              </a:spcBef>
              <a:spcAft>
                <a:spcPts val="0"/>
              </a:spcAft>
              <a:buSzPts val="1800"/>
              <a:buAutoNum type="arabicPeriod"/>
            </a:pPr>
            <a:r>
              <a:rPr lang="en"/>
              <a:t>Fit a one-step System GMM</a:t>
            </a:r>
            <a:endParaRPr/>
          </a:p>
          <a:p>
            <a:pPr indent="-342900" lvl="0" marL="457200" rtl="0" algn="l">
              <a:spcBef>
                <a:spcPts val="0"/>
              </a:spcBef>
              <a:spcAft>
                <a:spcPts val="0"/>
              </a:spcAft>
              <a:buSzPts val="1800"/>
              <a:buAutoNum type="arabicPeriod"/>
            </a:pPr>
            <a:r>
              <a:rPr lang="en"/>
              <a:t>Fit a two-step System GMM</a:t>
            </a:r>
            <a:endParaRPr/>
          </a:p>
          <a:p>
            <a:pPr indent="-342900" lvl="0" marL="457200" rtl="0" algn="l">
              <a:spcBef>
                <a:spcPts val="0"/>
              </a:spcBef>
              <a:spcAft>
                <a:spcPts val="0"/>
              </a:spcAft>
              <a:buSzPts val="1800"/>
              <a:buAutoNum type="arabicPeriod"/>
            </a:pPr>
            <a:r>
              <a:rPr lang="en"/>
              <a:t>Deciding between a Difference GMM and System GMM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Dynamic model?</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 </a:t>
            </a:r>
            <a:r>
              <a:rPr b="1" lang="en">
                <a:solidFill>
                  <a:schemeClr val="dk1"/>
                </a:solidFill>
              </a:rPr>
              <a:t>dynamic panel model</a:t>
            </a:r>
            <a:r>
              <a:rPr lang="en">
                <a:solidFill>
                  <a:schemeClr val="dk1"/>
                </a:solidFill>
              </a:rPr>
              <a:t> is a regression model where the dependent variable depends on </a:t>
            </a:r>
            <a:r>
              <a:rPr b="1" lang="en">
                <a:solidFill>
                  <a:schemeClr val="dk1"/>
                </a:solidFill>
              </a:rPr>
              <a:t>its own past values</a:t>
            </a:r>
            <a:r>
              <a:rPr lang="en">
                <a:solidFill>
                  <a:schemeClr val="dk1"/>
                </a:solidFill>
              </a:rPr>
              <a:t>. A commonly used specification for </a:t>
            </a:r>
            <a:r>
              <a:rPr b="1" lang="en">
                <a:solidFill>
                  <a:schemeClr val="dk1"/>
                </a:solidFill>
              </a:rPr>
              <a:t>Generalized Method of Moments (GMM)</a:t>
            </a:r>
            <a:r>
              <a:rPr lang="en">
                <a:solidFill>
                  <a:schemeClr val="dk1"/>
                </a:solidFill>
              </a:rPr>
              <a:t> estimation is the </a:t>
            </a:r>
            <a:r>
              <a:rPr b="1" lang="en">
                <a:solidFill>
                  <a:schemeClr val="dk1"/>
                </a:solidFill>
              </a:rPr>
              <a:t>dynamic autoregressive model</a:t>
            </a:r>
            <a:r>
              <a:rPr lang="en">
                <a:solidFill>
                  <a:schemeClr val="dk1"/>
                </a:solidFill>
              </a:rPr>
              <a:t>:</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rPr lang="en"/>
              <a:t>where:</a:t>
            </a:r>
            <a:endParaRPr/>
          </a:p>
          <a:p>
            <a:pPr indent="-342900" lvl="0" marL="457200" rtl="0" algn="l">
              <a:spcBef>
                <a:spcPts val="1200"/>
              </a:spcBef>
              <a:spcAft>
                <a:spcPts val="0"/>
              </a:spcAft>
              <a:buClr>
                <a:schemeClr val="dk1"/>
              </a:buClr>
              <a:buSzPts val="1800"/>
              <a:buChar char="●"/>
            </a:pPr>
            <a:r>
              <a:rPr lang="en"/>
              <a:t>yit​ = Dependent variable for entity iii at time ttt</a:t>
            </a:r>
            <a:endParaRPr/>
          </a:p>
          <a:p>
            <a:pPr indent="-342900" lvl="0" marL="457200" rtl="0" algn="l">
              <a:spcBef>
                <a:spcPts val="0"/>
              </a:spcBef>
              <a:spcAft>
                <a:spcPts val="0"/>
              </a:spcAft>
              <a:buClr>
                <a:schemeClr val="dk1"/>
              </a:buClr>
              <a:buSzPts val="1800"/>
              <a:buChar char="●"/>
            </a:pPr>
            <a:r>
              <a:rPr lang="en"/>
              <a:t>yi,t−1​ = Lagged dependent variable</a:t>
            </a:r>
            <a:endParaRPr/>
          </a:p>
          <a:p>
            <a:pPr indent="-342900" lvl="0" marL="457200" rtl="0" algn="l">
              <a:spcBef>
                <a:spcPts val="0"/>
              </a:spcBef>
              <a:spcAft>
                <a:spcPts val="0"/>
              </a:spcAft>
              <a:buClr>
                <a:schemeClr val="dk1"/>
              </a:buClr>
              <a:buSzPts val="1800"/>
              <a:buChar char="●"/>
            </a:pPr>
            <a:r>
              <a:rPr lang="en"/>
              <a:t>X</a:t>
            </a:r>
            <a:r>
              <a:rPr lang="en"/>
              <a:t>it​ = Vector of time-varying explanatory variables</a:t>
            </a:r>
            <a:endParaRPr/>
          </a:p>
          <a:p>
            <a:pPr indent="-342900" lvl="0" marL="457200" rtl="0" algn="l">
              <a:spcBef>
                <a:spcPts val="0"/>
              </a:spcBef>
              <a:spcAft>
                <a:spcPts val="0"/>
              </a:spcAft>
              <a:buClr>
                <a:schemeClr val="dk1"/>
              </a:buClr>
              <a:buSzPts val="1800"/>
              <a:buChar char="●"/>
            </a:pPr>
            <a:r>
              <a:rPr lang="en"/>
              <a:t>Zi​ = Time-invariant entity-specific characteristics (fixed effects)</a:t>
            </a:r>
            <a:endParaRPr/>
          </a:p>
          <a:p>
            <a:pPr indent="-342900" lvl="0" marL="457200" rtl="0" algn="l">
              <a:spcBef>
                <a:spcPts val="0"/>
              </a:spcBef>
              <a:spcAft>
                <a:spcPts val="0"/>
              </a:spcAft>
              <a:buClr>
                <a:schemeClr val="dk1"/>
              </a:buClr>
              <a:buSzPts val="1800"/>
              <a:buChar char="●"/>
            </a:pPr>
            <a:r>
              <a:rPr lang="en"/>
              <a:t>δt​ = Time-specific effects (to control for macroeconomic shocks)</a:t>
            </a:r>
            <a:endParaRPr/>
          </a:p>
          <a:p>
            <a:pPr indent="-342900" lvl="0" marL="457200" rtl="0" algn="l">
              <a:spcBef>
                <a:spcPts val="0"/>
              </a:spcBef>
              <a:spcAft>
                <a:spcPts val="0"/>
              </a:spcAft>
              <a:buClr>
                <a:schemeClr val="dk1"/>
              </a:buClr>
              <a:buSzPts val="1800"/>
              <a:buChar char="●"/>
            </a:pPr>
            <a:r>
              <a:rPr lang="en"/>
              <a:t>εit​ = Error term</a:t>
            </a:r>
            <a:endParaRPr/>
          </a:p>
          <a:p>
            <a:pPr indent="0" lvl="0" marL="0" rtl="0" algn="l">
              <a:spcBef>
                <a:spcPts val="1200"/>
              </a:spcBef>
              <a:spcAft>
                <a:spcPts val="1200"/>
              </a:spcAft>
              <a:buNone/>
            </a:pPr>
            <a:r>
              <a:t/>
            </a:r>
            <a:endParaRPr/>
          </a:p>
        </p:txBody>
      </p:sp>
      <p:pic>
        <p:nvPicPr>
          <p:cNvPr id="68" name="Google Shape;68;p15"/>
          <p:cNvPicPr preferRelativeResize="0"/>
          <p:nvPr/>
        </p:nvPicPr>
        <p:blipFill>
          <a:blip r:embed="rId3">
            <a:alphaModFix/>
          </a:blip>
          <a:stretch>
            <a:fillRect/>
          </a:stretch>
        </p:blipFill>
        <p:spPr>
          <a:xfrm>
            <a:off x="1369950" y="2095500"/>
            <a:ext cx="3333750" cy="952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GMM model?</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Generalized Method of Moments (GMM) is an econometric technique used to estimate parameters in models where endogeneity, heteroskedasticity, or autocorrelation are concerns. It is widely applied in panel data analysis and is especially useful when ordinary least squares (OLS) and fixed-effects models produce biased results due to endogeneity.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Use GMM?</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GMM is preferred over other estimation methods when:</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Endogeneity</a:t>
            </a:r>
            <a:r>
              <a:rPr lang="en">
                <a:solidFill>
                  <a:schemeClr val="dk1"/>
                </a:solidFill>
              </a:rPr>
              <a:t> is present (e.g., when regressors are correlated with the error term).</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Lagged dependent variables</a:t>
            </a:r>
            <a:r>
              <a:rPr lang="en">
                <a:solidFill>
                  <a:schemeClr val="dk1"/>
                </a:solidFill>
              </a:rPr>
              <a:t> are included, making OLS estimates biased.</a:t>
            </a:r>
            <a:endParaRPr>
              <a:solidFill>
                <a:schemeClr val="dk1"/>
              </a:solidFill>
            </a:endParaRPr>
          </a:p>
          <a:p>
            <a:pPr indent="0" lvl="0" marL="0" rtl="0" algn="l">
              <a:spcBef>
                <a:spcPts val="1200"/>
              </a:spcBef>
              <a:spcAft>
                <a:spcPts val="0"/>
              </a:spcAft>
              <a:buNone/>
            </a:pPr>
            <a:r>
              <a:rPr lang="en">
                <a:solidFill>
                  <a:schemeClr val="dk1"/>
                </a:solidFill>
              </a:rPr>
              <a:t>✅ </a:t>
            </a:r>
            <a:r>
              <a:rPr b="1" lang="en">
                <a:solidFill>
                  <a:schemeClr val="dk1"/>
                </a:solidFill>
              </a:rPr>
              <a:t>Panel data (multiple observations over time for each entity)</a:t>
            </a:r>
            <a:r>
              <a:rPr lang="en">
                <a:solidFill>
                  <a:schemeClr val="dk1"/>
                </a:solidFill>
              </a:rPr>
              <a:t> is used, and fixed/random effects may not fully control for omitted variable bias.</a:t>
            </a:r>
            <a:endParaRPr>
              <a:solidFill>
                <a:schemeClr val="dk1"/>
              </a:solidFill>
            </a:endParaRPr>
          </a:p>
          <a:p>
            <a:pPr indent="0" lvl="0" marL="0" rtl="0" algn="l">
              <a:spcBef>
                <a:spcPts val="1200"/>
              </a:spcBef>
              <a:spcAft>
                <a:spcPts val="0"/>
              </a:spcAft>
              <a:buNone/>
            </a:pPr>
            <a:r>
              <a:rPr lang="en">
                <a:solidFill>
                  <a:schemeClr val="dk1"/>
                </a:solidFill>
              </a:rPr>
              <a:t>Controls for:</a:t>
            </a:r>
            <a:br>
              <a:rPr lang="en">
                <a:solidFill>
                  <a:schemeClr val="dk1"/>
                </a:solidFill>
              </a:rPr>
            </a:br>
            <a:r>
              <a:rPr lang="en">
                <a:solidFill>
                  <a:schemeClr val="dk1"/>
                </a:solidFill>
              </a:rPr>
              <a:t>	</a:t>
            </a:r>
            <a:r>
              <a:rPr lang="en">
                <a:solidFill>
                  <a:schemeClr val="dk1"/>
                </a:solidFill>
              </a:rPr>
              <a:t>Unobserved</a:t>
            </a:r>
            <a:r>
              <a:rPr lang="en">
                <a:solidFill>
                  <a:schemeClr val="dk1"/>
                </a:solidFill>
              </a:rPr>
              <a:t> panel </a:t>
            </a:r>
            <a:r>
              <a:rPr lang="en">
                <a:solidFill>
                  <a:schemeClr val="dk1"/>
                </a:solidFill>
              </a:rPr>
              <a:t>heterogeneity</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GMM specifics</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N(number of groups) &gt; T(time)</a:t>
            </a:r>
            <a:endParaRPr/>
          </a:p>
          <a:p>
            <a:pPr indent="0" lvl="0" marL="0" rtl="0" algn="l">
              <a:spcBef>
                <a:spcPts val="1200"/>
              </a:spcBef>
              <a:spcAft>
                <a:spcPts val="0"/>
              </a:spcAft>
              <a:buNone/>
            </a:pPr>
            <a:r>
              <a:rPr lang="en"/>
              <a:t>Instruments Z must be </a:t>
            </a:r>
            <a:r>
              <a:rPr lang="en"/>
              <a:t>exogenous</a:t>
            </a:r>
            <a:endParaRPr/>
          </a:p>
          <a:p>
            <a:pPr indent="0" lvl="0" marL="0" rtl="0" algn="l">
              <a:spcBef>
                <a:spcPts val="1200"/>
              </a:spcBef>
              <a:spcAft>
                <a:spcPts val="1200"/>
              </a:spcAft>
              <a:buNone/>
            </a:pPr>
            <a:r>
              <a:rPr lang="en"/>
              <a:t>Z&lt;= 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GMM</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Difference GMM</a:t>
            </a:r>
            <a:endParaRPr/>
          </a:p>
          <a:p>
            <a:pPr indent="0" lvl="0" marL="0" rtl="0" algn="l">
              <a:spcBef>
                <a:spcPts val="1200"/>
              </a:spcBef>
              <a:spcAft>
                <a:spcPts val="1200"/>
              </a:spcAft>
              <a:buNone/>
            </a:pPr>
            <a:r>
              <a:rPr lang="en"/>
              <a:t>System GMM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Wait ….</a:t>
            </a:r>
            <a:endParaRPr/>
          </a:p>
          <a:p>
            <a:pPr indent="0" lvl="0" marL="0" rtl="0" algn="l">
              <a:spcBef>
                <a:spcPts val="0"/>
              </a:spcBef>
              <a:spcAft>
                <a:spcPts val="0"/>
              </a:spcAft>
              <a:buNone/>
            </a:pPr>
            <a:r>
              <a:t/>
            </a:r>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You cannot mention GMM without mentioning the following papers</a:t>
            </a:r>
            <a:endParaRPr/>
          </a:p>
          <a:p>
            <a:pPr indent="-342900" lvl="0" marL="457200" rtl="0" algn="l">
              <a:spcBef>
                <a:spcPts val="1200"/>
              </a:spcBef>
              <a:spcAft>
                <a:spcPts val="0"/>
              </a:spcAft>
              <a:buSzPts val="1800"/>
              <a:buAutoNum type="arabicPeriod"/>
            </a:pPr>
            <a:r>
              <a:rPr lang="en">
                <a:solidFill>
                  <a:schemeClr val="dk1"/>
                </a:solidFill>
              </a:rPr>
              <a:t>Holtz-Eakin, Newey, and Rosen (1988, </a:t>
            </a:r>
            <a:r>
              <a:rPr i="1" lang="en">
                <a:solidFill>
                  <a:schemeClr val="dk1"/>
                </a:solidFill>
              </a:rPr>
              <a:t>Econometrica</a:t>
            </a:r>
            <a:r>
              <a:rPr lang="en">
                <a:solidFill>
                  <a:schemeClr val="dk1"/>
                </a:solidFill>
              </a:rPr>
              <a:t> 56: 1371–1395)</a:t>
            </a:r>
            <a:endParaRPr>
              <a:solidFill>
                <a:schemeClr val="dk1"/>
              </a:solidFill>
            </a:endParaRPr>
          </a:p>
          <a:p>
            <a:pPr indent="-342900" lvl="0" marL="457200" rtl="0" algn="l">
              <a:spcBef>
                <a:spcPts val="0"/>
              </a:spcBef>
              <a:spcAft>
                <a:spcPts val="0"/>
              </a:spcAft>
              <a:buSzPts val="1800"/>
              <a:buAutoNum type="arabicPeriod"/>
            </a:pPr>
            <a:r>
              <a:rPr lang="en">
                <a:solidFill>
                  <a:schemeClr val="dk1"/>
                </a:solidFill>
              </a:rPr>
              <a:t>Arellano and Bond (1991, </a:t>
            </a:r>
            <a:r>
              <a:rPr i="1" lang="en">
                <a:solidFill>
                  <a:schemeClr val="dk1"/>
                </a:solidFill>
              </a:rPr>
              <a:t>Review of Economic Studies</a:t>
            </a:r>
            <a:r>
              <a:rPr lang="en">
                <a:solidFill>
                  <a:schemeClr val="dk1"/>
                </a:solidFill>
              </a:rPr>
              <a:t> 58: 277–297)</a:t>
            </a:r>
            <a:endParaRPr>
              <a:solidFill>
                <a:schemeClr val="dk1"/>
              </a:solidFill>
            </a:endParaRPr>
          </a:p>
          <a:p>
            <a:pPr indent="-342900" lvl="0" marL="457200" rtl="0" algn="l">
              <a:spcBef>
                <a:spcPts val="0"/>
              </a:spcBef>
              <a:spcAft>
                <a:spcPts val="0"/>
              </a:spcAft>
              <a:buSzPts val="1800"/>
              <a:buAutoNum type="arabicPeriod"/>
            </a:pPr>
            <a:r>
              <a:rPr lang="en">
                <a:solidFill>
                  <a:schemeClr val="dk1"/>
                </a:solidFill>
              </a:rPr>
              <a:t>Arellano and Bover (1995, </a:t>
            </a:r>
            <a:r>
              <a:rPr i="1" lang="en">
                <a:solidFill>
                  <a:schemeClr val="dk1"/>
                </a:solidFill>
              </a:rPr>
              <a:t>Journal of Econometrics</a:t>
            </a:r>
            <a:r>
              <a:rPr lang="en">
                <a:solidFill>
                  <a:schemeClr val="dk1"/>
                </a:solidFill>
              </a:rPr>
              <a:t> 68: 29–51)</a:t>
            </a:r>
            <a:endParaRPr>
              <a:solidFill>
                <a:schemeClr val="dk1"/>
              </a:solidFill>
            </a:endParaRPr>
          </a:p>
          <a:p>
            <a:pPr indent="-342900" lvl="0" marL="457200" rtl="0" algn="l">
              <a:spcBef>
                <a:spcPts val="0"/>
              </a:spcBef>
              <a:spcAft>
                <a:spcPts val="0"/>
              </a:spcAft>
              <a:buSzPts val="1800"/>
              <a:buAutoNum type="arabicPeriod"/>
            </a:pPr>
            <a:r>
              <a:rPr lang="en">
                <a:solidFill>
                  <a:schemeClr val="dk1"/>
                </a:solidFill>
              </a:rPr>
              <a:t>Blundell and Bond (1998, </a:t>
            </a:r>
            <a:r>
              <a:rPr i="1" lang="en">
                <a:solidFill>
                  <a:schemeClr val="dk1"/>
                </a:solidFill>
              </a:rPr>
              <a:t>Journal of Econometrics</a:t>
            </a:r>
            <a:r>
              <a:rPr lang="en">
                <a:solidFill>
                  <a:schemeClr val="dk1"/>
                </a:solidFill>
              </a:rPr>
              <a:t> 87: 115–143).</a:t>
            </a:r>
            <a:endParaRPr>
              <a:solidFill>
                <a:schemeClr val="dk1"/>
              </a:solidFill>
            </a:endParaRPr>
          </a:p>
          <a:p>
            <a:pPr indent="0" lvl="0" marL="45720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Difference GMM</a:t>
            </a:r>
            <a:endParaRPr/>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Arellano &amp; Bond (1991)</a:t>
            </a:r>
            <a:endParaRPr/>
          </a:p>
          <a:p>
            <a:pPr indent="0" lvl="0" marL="0" rtl="0" algn="l">
              <a:spcBef>
                <a:spcPts val="1200"/>
              </a:spcBef>
              <a:spcAft>
                <a:spcPts val="0"/>
              </a:spcAft>
              <a:buNone/>
            </a:pPr>
            <a:r>
              <a:rPr lang="en"/>
              <a:t>Corrects endogeneity by:Transforming all regressors through differencing</a:t>
            </a:r>
            <a:endParaRPr/>
          </a:p>
          <a:p>
            <a:pPr indent="0" lvl="0" marL="0" rtl="0" algn="l">
              <a:spcBef>
                <a:spcPts val="1200"/>
              </a:spcBef>
              <a:spcAft>
                <a:spcPts val="0"/>
              </a:spcAft>
              <a:buNone/>
            </a:pPr>
            <a:r>
              <a:rPr lang="en"/>
              <a:t>Removing fixed effects</a:t>
            </a:r>
            <a:endParaRPr/>
          </a:p>
          <a:p>
            <a:pPr indent="0" lvl="0" marL="0" rtl="0" algn="l">
              <a:spcBef>
                <a:spcPts val="1200"/>
              </a:spcBef>
              <a:spcAft>
                <a:spcPts val="0"/>
              </a:spcAft>
              <a:buNone/>
            </a:pPr>
            <a:r>
              <a:rPr lang="en"/>
              <a:t>First difference transformation has a weakness –</a:t>
            </a:r>
            <a:endParaRPr/>
          </a:p>
          <a:p>
            <a:pPr indent="0" lvl="0" marL="0" rtl="0" algn="l">
              <a:spcBef>
                <a:spcPts val="1200"/>
              </a:spcBef>
              <a:spcAft>
                <a:spcPts val="0"/>
              </a:spcAft>
              <a:buNone/>
            </a:pPr>
            <a:r>
              <a:rPr lang="en"/>
              <a:t>subtracts the previous observation from the contemporaneous one, thereby magnifying gaps in an unbalanced panel.</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GMM…</a:t>
            </a:r>
            <a:endParaRPr/>
          </a:p>
          <a:p>
            <a:pPr indent="0" lvl="0" marL="0" rtl="0" algn="l">
              <a:spcBef>
                <a:spcPts val="0"/>
              </a:spcBef>
              <a:spcAft>
                <a:spcPts val="0"/>
              </a:spcAft>
              <a:buNone/>
            </a:pPr>
            <a:r>
              <a:t/>
            </a:r>
            <a:endParaRPr/>
          </a:p>
        </p:txBody>
      </p:sp>
      <p:sp>
        <p:nvSpPr>
          <p:cNvPr id="110" name="Google Shape;110;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a:solidFill>
                  <a:schemeClr val="dk1"/>
                </a:solidFill>
              </a:rPr>
              <a:t>Arellano &amp; Bover (1995) and Blundell &amp; Bond (1998)</a:t>
            </a:r>
            <a:endParaRPr b="1">
              <a:solidFill>
                <a:schemeClr val="dk1"/>
              </a:solidFill>
            </a:endParaRPr>
          </a:p>
          <a:p>
            <a:pPr indent="-342900" lvl="0" marL="457200" rtl="0" algn="l">
              <a:spcBef>
                <a:spcPts val="1200"/>
              </a:spcBef>
              <a:spcAft>
                <a:spcPts val="0"/>
              </a:spcAft>
              <a:buClr>
                <a:schemeClr val="dk1"/>
              </a:buClr>
              <a:buSzPts val="1800"/>
              <a:buAutoNum type="arabicPeriod"/>
            </a:pPr>
            <a:r>
              <a:rPr lang="en">
                <a:solidFill>
                  <a:schemeClr val="dk1"/>
                </a:solidFill>
              </a:rPr>
              <a:t>Corrects endogeneity by:</a:t>
            </a:r>
            <a:endParaRPr>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Introducing more instruments to dramatically improve efficiency</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Transforming the instruments to make them uncorrelated (exogenous) with the fixed effects</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Builds a system of two equations: the original equation and the transformed one.</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Uses orthogonal deviations –</a:t>
            </a:r>
            <a:br>
              <a:rPr lang="en">
                <a:solidFill>
                  <a:schemeClr val="dk1"/>
                </a:solidFill>
              </a:rPr>
            </a:br>
            <a:r>
              <a:rPr i="1" lang="en">
                <a:solidFill>
                  <a:schemeClr val="dk1"/>
                </a:solidFill>
              </a:rPr>
              <a:t>Instead of subtracting the previous observation from the contemporaneous one, it subtracts the average of all future available observations of a variable. No matter how many gaps, it is computable for all observations except the last for each individual, so it minimizes data loss.</a:t>
            </a:r>
            <a:r>
              <a:rPr lang="en">
                <a:solidFill>
                  <a:schemeClr val="dk1"/>
                </a:solidFill>
              </a:rPr>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One-Step vs. Two-Step GMM</a:t>
            </a:r>
            <a:endParaRPr/>
          </a:p>
          <a:p>
            <a:pPr indent="0" lvl="0" marL="0" rtl="0" algn="l">
              <a:spcBef>
                <a:spcPts val="0"/>
              </a:spcBef>
              <a:spcAft>
                <a:spcPts val="0"/>
              </a:spcAft>
              <a:buNone/>
            </a:pPr>
            <a:r>
              <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a:solidFill>
                  <a:schemeClr val="dk1"/>
                </a:solidFill>
              </a:rPr>
              <a:t>1. One-Step GMM</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Uses </a:t>
            </a:r>
            <a:r>
              <a:rPr b="1" lang="en">
                <a:solidFill>
                  <a:schemeClr val="dk1"/>
                </a:solidFill>
              </a:rPr>
              <a:t>initial weighting matrix</a:t>
            </a:r>
            <a:r>
              <a:rPr lang="en">
                <a:solidFill>
                  <a:schemeClr val="dk1"/>
                </a:solidFill>
              </a:rPr>
              <a:t> based on the assumption of </a:t>
            </a:r>
            <a:r>
              <a:rPr b="1" lang="en">
                <a:solidFill>
                  <a:schemeClr val="dk1"/>
                </a:solidFill>
              </a:rPr>
              <a:t>homoskedastic errors</a:t>
            </a:r>
            <a:r>
              <a:rPr lang="en">
                <a:solidFill>
                  <a:schemeClr val="dk1"/>
                </a:solidFill>
              </a:rPr>
              <a:t> (constant variance).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 standard errors may be biased if </a:t>
            </a:r>
            <a:r>
              <a:rPr b="1" lang="en">
                <a:solidFill>
                  <a:schemeClr val="dk1"/>
                </a:solidFill>
              </a:rPr>
              <a:t>heteroskedasticity</a:t>
            </a:r>
            <a:r>
              <a:rPr lang="en">
                <a:solidFill>
                  <a:schemeClr val="dk1"/>
                </a:solidFill>
              </a:rPr>
              <a:t> is present.</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2. Two-Step GMM (More Efficient)</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First, </a:t>
            </a:r>
            <a:r>
              <a:rPr b="1" lang="en">
                <a:solidFill>
                  <a:schemeClr val="dk1"/>
                </a:solidFill>
              </a:rPr>
              <a:t>one-step GMM</a:t>
            </a:r>
            <a:r>
              <a:rPr lang="en">
                <a:solidFill>
                  <a:schemeClr val="dk1"/>
                </a:solidFill>
              </a:rPr>
              <a:t> is run to get residuals.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Then, the </a:t>
            </a:r>
            <a:r>
              <a:rPr b="1" lang="en">
                <a:solidFill>
                  <a:schemeClr val="dk1"/>
                </a:solidFill>
              </a:rPr>
              <a:t>residuals are used to compute an improved weighting matrix</a:t>
            </a:r>
            <a:r>
              <a:rPr lang="en">
                <a:solidFill>
                  <a:schemeClr val="dk1"/>
                </a:solidFill>
              </a:rPr>
              <a:t>, adjusting for heteroskedasticity.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This step provides </a:t>
            </a:r>
            <a:r>
              <a:rPr b="1" lang="en">
                <a:solidFill>
                  <a:schemeClr val="dk1"/>
                </a:solidFill>
              </a:rPr>
              <a:t>more efficient estimates</a:t>
            </a:r>
            <a:r>
              <a:rPr lang="en">
                <a:solidFill>
                  <a:schemeClr val="dk1"/>
                </a:solidFill>
              </a:rPr>
              <a:t> and </a:t>
            </a:r>
            <a:r>
              <a:rPr b="1" lang="en">
                <a:solidFill>
                  <a:schemeClr val="dk1"/>
                </a:solidFill>
              </a:rPr>
              <a:t>robust standard errors</a:t>
            </a:r>
            <a:r>
              <a:rPr lang="en">
                <a:solidFill>
                  <a:schemeClr val="dk1"/>
                </a:solidFill>
              </a:rPr>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GMM diagnostics</a:t>
            </a:r>
            <a:endParaRPr/>
          </a:p>
        </p:txBody>
      </p:sp>
      <p:sp>
        <p:nvSpPr>
          <p:cNvPr id="122" name="Google Shape;122;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Two tests for instruments validity:</a:t>
            </a:r>
            <a:endParaRPr b="1">
              <a:solidFill>
                <a:schemeClr val="dk1"/>
              </a:solidFill>
            </a:endParaRPr>
          </a:p>
          <a:p>
            <a:pPr indent="-342900" lvl="0" marL="457200" rtl="0" algn="l">
              <a:spcBef>
                <a:spcPts val="1200"/>
              </a:spcBef>
              <a:spcAft>
                <a:spcPts val="0"/>
              </a:spcAft>
              <a:buClr>
                <a:schemeClr val="dk1"/>
              </a:buClr>
              <a:buSzPts val="1800"/>
              <a:buChar char="●"/>
            </a:pPr>
            <a:r>
              <a:rPr i="1" lang="en">
                <a:solidFill>
                  <a:schemeClr val="dk1"/>
                </a:solidFill>
              </a:rPr>
              <a:t>Hansen (1982) J test</a:t>
            </a:r>
            <a:r>
              <a:rPr lang="en">
                <a:solidFill>
                  <a:schemeClr val="dk1"/>
                </a:solidFill>
              </a:rPr>
              <a:t> and </a:t>
            </a:r>
            <a:r>
              <a:rPr i="1" lang="en">
                <a:solidFill>
                  <a:schemeClr val="dk1"/>
                </a:solidFill>
              </a:rPr>
              <a:t>Sargan (1985) test</a:t>
            </a:r>
            <a:r>
              <a:rPr lang="en">
                <a:solidFill>
                  <a:schemeClr val="dk1"/>
                </a:solidFill>
              </a:rPr>
              <a:t> of over-identifying restrictions: tests the null hypotheses of overall validity of the instruments used.</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Failure</a:t>
            </a:r>
            <a:r>
              <a:rPr lang="en">
                <a:solidFill>
                  <a:schemeClr val="dk1"/>
                </a:solidFill>
              </a:rPr>
              <a:t> to reject these null hypotheses gives support to the choice of the instruments.</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Test for autocorrelation/serial correlation of the error term:</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Tests the null hypothesis that the differenced error term is first and second order serially correlated.</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Failure</a:t>
            </a:r>
            <a:r>
              <a:rPr lang="en">
                <a:solidFill>
                  <a:schemeClr val="dk1"/>
                </a:solidFill>
              </a:rPr>
              <a:t> to reject the null hypothesis of </a:t>
            </a:r>
            <a:r>
              <a:rPr b="1" lang="en">
                <a:solidFill>
                  <a:schemeClr val="dk1"/>
                </a:solidFill>
              </a:rPr>
              <a:t>no second-order serial correlation</a:t>
            </a:r>
            <a:r>
              <a:rPr lang="en">
                <a:solidFill>
                  <a:schemeClr val="dk1"/>
                </a:solidFill>
              </a:rPr>
              <a:t> implies that the original error term is serially uncorrelated and the moment conditions are correctly specified </a:t>
            </a:r>
            <a:r>
              <a:rPr i="1" lang="en">
                <a:solidFill>
                  <a:schemeClr val="dk1"/>
                </a:solidFill>
              </a:rPr>
              <a:t>(that is, the value of AR(2) &gt; 0.05).</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GMM and xtabond2</a:t>
            </a:r>
            <a:endParaRPr/>
          </a:p>
          <a:p>
            <a:pPr indent="0" lvl="0" marL="0" rtl="0" algn="l">
              <a:spcBef>
                <a:spcPts val="0"/>
              </a:spcBef>
              <a:spcAft>
                <a:spcPts val="0"/>
              </a:spcAft>
              <a:buNone/>
            </a:pPr>
            <a:r>
              <a:t/>
            </a:r>
            <a:endParaRPr/>
          </a:p>
        </p:txBody>
      </p:sp>
      <p:sp>
        <p:nvSpPr>
          <p:cNvPr id="128" name="Google Shape;12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xtabond2</a:t>
            </a:r>
            <a:r>
              <a:rPr lang="en">
                <a:solidFill>
                  <a:schemeClr val="dk1"/>
                </a:solidFill>
              </a:rPr>
              <a:t> is an improved version of </a:t>
            </a:r>
            <a:r>
              <a:rPr lang="en">
                <a:solidFill>
                  <a:srgbClr val="188038"/>
                </a:solidFill>
                <a:latin typeface="Roboto Mono"/>
                <a:ea typeface="Roboto Mono"/>
                <a:cs typeface="Roboto Mono"/>
                <a:sym typeface="Roboto Mono"/>
              </a:rPr>
              <a:t>xtabond</a:t>
            </a:r>
            <a:r>
              <a:rPr lang="en">
                <a:solidFill>
                  <a:schemeClr val="dk1"/>
                </a:solidFill>
              </a:rPr>
              <a:t>, implementing </a:t>
            </a:r>
            <a:r>
              <a:rPr b="1" lang="en">
                <a:solidFill>
                  <a:schemeClr val="dk1"/>
                </a:solidFill>
              </a:rPr>
              <a:t>Arellano-Bond (1991)</a:t>
            </a:r>
            <a:r>
              <a:rPr lang="en">
                <a:solidFill>
                  <a:schemeClr val="dk1"/>
                </a:solidFill>
              </a:rPr>
              <a:t> and </a:t>
            </a:r>
            <a:r>
              <a:rPr b="1" lang="en">
                <a:solidFill>
                  <a:schemeClr val="dk1"/>
                </a:solidFill>
              </a:rPr>
              <a:t>Blundell-Bond (1998) system GMM</a:t>
            </a:r>
            <a:r>
              <a:rPr lang="en">
                <a:solidFill>
                  <a:schemeClr val="dk1"/>
                </a:solidFill>
              </a:rPr>
              <a:t>.</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It is used for </a:t>
            </a:r>
            <a:r>
              <a:rPr b="1" lang="en">
                <a:solidFill>
                  <a:schemeClr val="dk1"/>
                </a:solidFill>
              </a:rPr>
              <a:t>dynamic panel data models</a:t>
            </a:r>
            <a:r>
              <a:rPr lang="en">
                <a:solidFill>
                  <a:schemeClr val="dk1"/>
                </a:solidFill>
              </a:rPr>
              <a:t> where:</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The dependent variable depends on its past values (lagged dependent variable).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Independent variables may be endogenous or predetermined.</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There are </a:t>
            </a:r>
            <a:r>
              <a:rPr b="1" lang="en">
                <a:solidFill>
                  <a:schemeClr val="dk1"/>
                </a:solidFill>
              </a:rPr>
              <a:t>fixed effects</a:t>
            </a:r>
            <a:r>
              <a:rPr lang="en">
                <a:solidFill>
                  <a:schemeClr val="dk1"/>
                </a:solidFill>
              </a:rPr>
              <a:t> that need to be accounted for.</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GMM in xtabond2</a:t>
            </a:r>
            <a:endParaRPr/>
          </a:p>
        </p:txBody>
      </p:sp>
      <p:sp>
        <p:nvSpPr>
          <p:cNvPr id="134" name="Google Shape;134;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Difference GMM (Arellano-Bond, 1991)</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First-differences the data to remove fixed effects.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Uses lagged levels of variables as instruments.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Suitable when independent variables are strictly exogenous or weakly endogenous.</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System GMM (Blundell-Bond, 1998)</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Uses lagged levels and lagged differences as instruments.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Improves efficiency when variables are persistent over time.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Recommended when Difference GMM suffers from weak instrument issues.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Features of xtabond2</a:t>
            </a:r>
            <a:endParaRPr/>
          </a:p>
          <a:p>
            <a:pPr indent="0" lvl="0" marL="0" rtl="0" algn="l">
              <a:spcBef>
                <a:spcPts val="0"/>
              </a:spcBef>
              <a:spcAft>
                <a:spcPts val="0"/>
              </a:spcAft>
              <a:buNone/>
            </a:pPr>
            <a:r>
              <a:t/>
            </a:r>
            <a:endParaRPr/>
          </a:p>
        </p:txBody>
      </p:sp>
      <p:sp>
        <p:nvSpPr>
          <p:cNvPr id="140" name="Google Shape;140;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solidFill>
                  <a:schemeClr val="dk1"/>
                </a:solidFill>
              </a:rPr>
              <a:t>Endogeneity Control</a:t>
            </a:r>
            <a:r>
              <a:rPr lang="en">
                <a:solidFill>
                  <a:schemeClr val="dk1"/>
                </a:solidFill>
              </a:rPr>
              <a:t>: Uses </a:t>
            </a:r>
            <a:r>
              <a:rPr b="1" lang="en">
                <a:solidFill>
                  <a:schemeClr val="dk1"/>
                </a:solidFill>
              </a:rPr>
              <a:t>internal instruments</a:t>
            </a:r>
            <a:r>
              <a:rPr lang="en">
                <a:solidFill>
                  <a:schemeClr val="dk1"/>
                </a:solidFill>
              </a:rPr>
              <a:t> (lagged values) to mitigate bias from endogeneity.</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Efficiency</a:t>
            </a:r>
            <a:r>
              <a:rPr lang="en">
                <a:solidFill>
                  <a:schemeClr val="dk1"/>
                </a:solidFill>
              </a:rPr>
              <a:t>: System GMM is more efficient when variables are highly persistent.</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Robustness Checks</a:t>
            </a:r>
            <a:r>
              <a:rPr lang="en">
                <a:solidFill>
                  <a:schemeClr val="dk1"/>
                </a:solidFill>
              </a:rPr>
              <a:t>:</a:t>
            </a:r>
            <a:endParaRPr>
              <a:solidFill>
                <a:schemeClr val="dk1"/>
              </a:solidFill>
            </a:endParaRPr>
          </a:p>
          <a:p>
            <a:pPr indent="-342900" lvl="0" marL="457200" rtl="0" algn="l">
              <a:spcBef>
                <a:spcPts val="1200"/>
              </a:spcBef>
              <a:spcAft>
                <a:spcPts val="0"/>
              </a:spcAft>
              <a:buClr>
                <a:schemeClr val="dk1"/>
              </a:buClr>
              <a:buSzPts val="1800"/>
              <a:buChar char="●"/>
            </a:pPr>
            <a:r>
              <a:rPr b="1" lang="en">
                <a:solidFill>
                  <a:schemeClr val="dk1"/>
                </a:solidFill>
              </a:rPr>
              <a:t>AR(2) test</a:t>
            </a:r>
            <a:r>
              <a:rPr lang="en">
                <a:solidFill>
                  <a:schemeClr val="dk1"/>
                </a:solidFill>
              </a:rPr>
              <a:t>: Checks for second-order serial correlation in differenced residuals.</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Hansen Test</a:t>
            </a:r>
            <a:r>
              <a:rPr lang="en">
                <a:solidFill>
                  <a:schemeClr val="dk1"/>
                </a:solidFill>
              </a:rPr>
              <a:t>: Tests for overidentifying restrictions (validity of instruments).</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One-step Difference GMM</a:t>
            </a:r>
            <a:endParaRPr/>
          </a:p>
        </p:txBody>
      </p:sp>
      <p:sp>
        <p:nvSpPr>
          <p:cNvPr id="146" name="Google Shape;14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a:solidFill>
                  <a:schemeClr val="dk1"/>
                </a:solidFill>
              </a:rPr>
              <a:t>Why estimate one-step difference GMM?</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Arellano-Bond estimators have one- and two-step variants.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One-step difference GMM is the initial regression (Roodman, 2009).</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Many applied works use one-step estimates because simulation studies suggest very modest efficiency gains from two-step, even in the presence of heteroscedasticity.</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Interpreting the output</a:t>
            </a:r>
            <a:endParaRPr/>
          </a:p>
        </p:txBody>
      </p:sp>
      <p:sp>
        <p:nvSpPr>
          <p:cNvPr id="152" name="Google Shape;152;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a:solidFill>
                  <a:schemeClr val="dk1"/>
                </a:solidFill>
              </a:rPr>
              <a:t>Statistics to look out for…</a:t>
            </a:r>
            <a:endParaRPr b="1">
              <a:solidFill>
                <a:schemeClr val="dk1"/>
              </a:solidFill>
            </a:endParaRPr>
          </a:p>
          <a:p>
            <a:pPr indent="-342900" lvl="0" marL="457200" rtl="0" algn="l">
              <a:spcBef>
                <a:spcPts val="1200"/>
              </a:spcBef>
              <a:spcAft>
                <a:spcPts val="0"/>
              </a:spcAft>
              <a:buClr>
                <a:schemeClr val="dk1"/>
              </a:buClr>
              <a:buSzPts val="1800"/>
              <a:buAutoNum type="arabicPeriod"/>
            </a:pPr>
            <a:r>
              <a:rPr lang="en">
                <a:solidFill>
                  <a:schemeClr val="dk1"/>
                </a:solidFill>
              </a:rPr>
              <a:t>Hansen statistic → </a:t>
            </a:r>
            <a:r>
              <a:rPr b="1" lang="en">
                <a:solidFill>
                  <a:schemeClr val="dk1"/>
                </a:solidFill>
              </a:rPr>
              <a:t>valid instruments?</a:t>
            </a:r>
            <a:endParaRPr b="1">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AR(2) statistic → </a:t>
            </a:r>
            <a:r>
              <a:rPr b="1" lang="en">
                <a:solidFill>
                  <a:schemeClr val="dk1"/>
                </a:solidFill>
              </a:rPr>
              <a:t>2ⁿᵈ order autocorrelation?</a:t>
            </a:r>
            <a:endParaRPr b="1">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Lagged dependent variable → </a:t>
            </a:r>
            <a:r>
              <a:rPr b="1" lang="en">
                <a:solidFill>
                  <a:schemeClr val="dk1"/>
                </a:solidFill>
              </a:rPr>
              <a:t>check p-value</a:t>
            </a:r>
            <a:endParaRPr b="1">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Other regressors → </a:t>
            </a:r>
            <a:r>
              <a:rPr b="1" lang="en">
                <a:solidFill>
                  <a:schemeClr val="dk1"/>
                </a:solidFill>
              </a:rPr>
              <a:t>check p-value</a:t>
            </a:r>
            <a:endParaRPr b="1">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No. of instruments (</a:t>
            </a:r>
            <a:r>
              <a:rPr i="1" lang="en">
                <a:solidFill>
                  <a:schemeClr val="dk1"/>
                </a:solidFill>
              </a:rPr>
              <a:t>I</a:t>
            </a:r>
            <a:r>
              <a:rPr lang="en">
                <a:solidFill>
                  <a:schemeClr val="dk1"/>
                </a:solidFill>
              </a:rPr>
              <a:t>) vs. no. of groups (</a:t>
            </a:r>
            <a:r>
              <a:rPr i="1" lang="en">
                <a:solidFill>
                  <a:schemeClr val="dk1"/>
                </a:solidFill>
              </a:rPr>
              <a:t>G</a:t>
            </a:r>
            <a:r>
              <a:rPr lang="en">
                <a:solidFill>
                  <a:schemeClr val="dk1"/>
                </a:solidFill>
              </a:rPr>
              <a:t>) → </a:t>
            </a:r>
            <a:r>
              <a:rPr b="1" lang="en">
                <a:solidFill>
                  <a:schemeClr val="dk1"/>
                </a:solidFill>
              </a:rPr>
              <a:t>I &lt; G</a:t>
            </a:r>
            <a:endParaRPr b="1">
              <a:solidFill>
                <a:schemeClr val="dk1"/>
              </a:solidFill>
            </a:endParaRPr>
          </a:p>
          <a:p>
            <a:pPr indent="-342900" lvl="0" marL="457200" rtl="0" algn="l">
              <a:spcBef>
                <a:spcPts val="0"/>
              </a:spcBef>
              <a:spcAft>
                <a:spcPts val="0"/>
              </a:spcAft>
              <a:buClr>
                <a:schemeClr val="dk1"/>
              </a:buClr>
              <a:buSzPts val="1800"/>
              <a:buAutoNum type="arabicPeriod"/>
            </a:pPr>
            <a:r>
              <a:rPr i="1" lang="en">
                <a:solidFill>
                  <a:schemeClr val="dk1"/>
                </a:solidFill>
              </a:rPr>
              <a:t>F</a:t>
            </a:r>
            <a:r>
              <a:rPr lang="en">
                <a:solidFill>
                  <a:schemeClr val="dk1"/>
                </a:solidFill>
              </a:rPr>
              <a:t>-statistic → </a:t>
            </a:r>
            <a:r>
              <a:rPr b="1" lang="en">
                <a:solidFill>
                  <a:schemeClr val="dk1"/>
                </a:solidFill>
              </a:rPr>
              <a:t>joint significance?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for our synthetic data</a:t>
            </a:r>
            <a:endParaRPr/>
          </a:p>
        </p:txBody>
      </p:sp>
      <p:sp>
        <p:nvSpPr>
          <p:cNvPr id="158" name="Google Shape;158;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import delimited "dynamic_panel_data_with_numeric_time_dummies.csv", clear xtset id time // Declare panel structure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xtabond2 y L.y x1 x2 time_2-time_10, gmm(L.y, collapse) iv(x1 x2) twostep</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Presenting your results</a:t>
            </a:r>
            <a:endParaRPr/>
          </a:p>
        </p:txBody>
      </p:sp>
      <p:sp>
        <p:nvSpPr>
          <p:cNvPr id="164" name="Google Shape;164;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5" name="Google Shape;165;p31"/>
          <p:cNvPicPr preferRelativeResize="0"/>
          <p:nvPr/>
        </p:nvPicPr>
        <p:blipFill>
          <a:blip r:embed="rId3">
            <a:alphaModFix/>
          </a:blip>
          <a:stretch>
            <a:fillRect/>
          </a:stretch>
        </p:blipFill>
        <p:spPr>
          <a:xfrm>
            <a:off x="0" y="511026"/>
            <a:ext cx="9144001" cy="412144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Decision</a:t>
            </a:r>
            <a:endParaRPr/>
          </a:p>
        </p:txBody>
      </p:sp>
      <p:sp>
        <p:nvSpPr>
          <p:cNvPr id="171" name="Google Shape;17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2" name="Google Shape;172;p32"/>
          <p:cNvPicPr preferRelativeResize="0"/>
          <p:nvPr/>
        </p:nvPicPr>
        <p:blipFill>
          <a:blip r:embed="rId3">
            <a:alphaModFix/>
          </a:blip>
          <a:stretch>
            <a:fillRect/>
          </a:stretch>
        </p:blipFill>
        <p:spPr>
          <a:xfrm>
            <a:off x="0" y="408970"/>
            <a:ext cx="9143999" cy="432556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Decision rule</a:t>
            </a:r>
            <a:endParaRPr/>
          </a:p>
        </p:txBody>
      </p:sp>
      <p:sp>
        <p:nvSpPr>
          <p:cNvPr id="178" name="Google Shape;178;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9" name="Google Shape;179;p33"/>
          <p:cNvPicPr preferRelativeResize="0"/>
          <p:nvPr/>
        </p:nvPicPr>
        <p:blipFill>
          <a:blip r:embed="rId3">
            <a:alphaModFix/>
          </a:blip>
          <a:stretch>
            <a:fillRect/>
          </a:stretch>
        </p:blipFill>
        <p:spPr>
          <a:xfrm>
            <a:off x="311700" y="768700"/>
            <a:ext cx="8832300" cy="3606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