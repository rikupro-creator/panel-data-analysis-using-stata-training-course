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413bf8d6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1413bf8d6f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1413bf8d6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1413bf8d6f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1413bf8d6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1413bf8d6f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413bf8d6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1413bf8d6f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1413bf8d6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1413bf8d6f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1413bf8d6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1413bf8d6f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1413bf8d6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1413bf8d6f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hyperlink" Target="https://stats.oarc.ucla.edu/stata/webbooks/reg/chapter2/stata-webbooksregressionwith-statachapter-2-regression-diagnostics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3600" y="2524400"/>
            <a:ext cx="10824900" cy="2030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Regression Diagnostics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idx="4294967295"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Linear Regression Assumptions- explored in this class</a:t>
            </a:r>
            <a:endParaRPr/>
          </a:p>
        </p:txBody>
      </p:sp>
      <p:sp>
        <p:nvSpPr>
          <p:cNvPr id="90" name="Google Shape;90;p14"/>
          <p:cNvSpPr txBox="1"/>
          <p:nvPr>
            <p:ph idx="4294967295" type="body"/>
          </p:nvPr>
        </p:nvSpPr>
        <p:spPr>
          <a:xfrm>
            <a:off x="415600" y="1562133"/>
            <a:ext cx="11360700" cy="452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/>
              <a:t>Linearity – the relationships between the predictors and the outcome variable should be linear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/>
              <a:t>Normality – the errors should be normally distributed – technically normality is necessary only for hypothesis tests to be valid, estimation of the coefficients only requires that the errors be identically and independently distributed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/>
              <a:t>Homogeneity of variance (homoscedasticity) – the error variance should be constant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/>
              <a:t>Independence – the errors associated with one observation are not correlated with the errors of any other observation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idx="4294967295"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Normality</a:t>
            </a:r>
            <a:endParaRPr/>
          </a:p>
        </p:txBody>
      </p:sp>
      <p:sp>
        <p:nvSpPr>
          <p:cNvPr id="96" name="Google Shape;96;p15"/>
          <p:cNvSpPr txBox="1"/>
          <p:nvPr>
            <p:ph idx="4294967295" type="body"/>
          </p:nvPr>
        </p:nvSpPr>
        <p:spPr>
          <a:xfrm>
            <a:off x="415600" y="1562133"/>
            <a:ext cx="11360700" cy="452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/>
              <a:t>// Visual checks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/>
              <a:t>kdensity r, normal      // Kernel density with normal overlay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/>
              <a:t>pnorm r                 // P-P plot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/>
              <a:t>qnorm r                 // Q-Q plot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/>
              <a:t>// Formal tests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/>
              <a:t>swilk r                 // Shapiro-Wilk test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idx="4294967295"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Normality Corrective actions</a:t>
            </a:r>
            <a:endParaRPr/>
          </a:p>
        </p:txBody>
      </p:sp>
      <p:sp>
        <p:nvSpPr>
          <p:cNvPr id="102" name="Google Shape;102;p16"/>
          <p:cNvSpPr txBox="1"/>
          <p:nvPr>
            <p:ph idx="4294967295" type="body"/>
          </p:nvPr>
        </p:nvSpPr>
        <p:spPr>
          <a:xfrm>
            <a:off x="339400" y="1562133"/>
            <a:ext cx="11360700" cy="452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Model Specification</a:t>
            </a:r>
            <a:endParaRPr/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Ensure model is correctly specified.</a:t>
            </a:r>
            <a:endParaRPr/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Add or drop variables and interaction terms as needed.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Check Regression Assumptions</a:t>
            </a:r>
            <a:endParaRPr/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Verify that all assumptions are met, as one violation can affect others.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Assess Non-Normality</a:t>
            </a:r>
            <a:endParaRPr/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Examine residuals' shape using a Q-Q plot.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Apply appropriate corrections if non-normality persists.</a:t>
            </a:r>
            <a:endParaRPr/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Consider Transformation Drawbacks</a:t>
            </a:r>
            <a:endParaRPr/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Transformed outcomes require back-transformation for interpretability.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Re-check Assumptions Post-Correction</a:t>
            </a:r>
            <a:endParaRPr/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After adjustments, reassess all assumptions.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idx="4294967295"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Normality Corrective actions by shape</a:t>
            </a:r>
            <a:endParaRPr/>
          </a:p>
        </p:txBody>
      </p:sp>
      <p:sp>
        <p:nvSpPr>
          <p:cNvPr id="108" name="Google Shape;108;p17"/>
          <p:cNvSpPr txBox="1"/>
          <p:nvPr>
            <p:ph idx="4294967295" type="body"/>
          </p:nvPr>
        </p:nvSpPr>
        <p:spPr>
          <a:xfrm>
            <a:off x="339400" y="1562133"/>
            <a:ext cx="11360700" cy="452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Skew Adjustments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Moderate Positive: Use √(y + constant), Substantial Positive: Use log(y + constant), Severe Positive: Use 1/(y + constant), Negative Skew: Use similar transformations with (constant - y)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Alternative: Try a Box-Cox transformation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Multiple Peaks: Add a categorical variable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Fat/Thin Tails - For asymmetry: See skew adjustments, For fat tails: Use asinh(y)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Truncated/Censored Data - Fit a special model (e.g., Heckman or beta)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Discrete Outcomes - Use a generalized linear model (e.g., logit, Poisson)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idx="4294967295"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Heteroscedasticity </a:t>
            </a:r>
            <a:endParaRPr/>
          </a:p>
        </p:txBody>
      </p:sp>
      <p:sp>
        <p:nvSpPr>
          <p:cNvPr id="114" name="Google Shape;114;p18"/>
          <p:cNvSpPr txBox="1"/>
          <p:nvPr>
            <p:ph idx="4294967295" type="body"/>
          </p:nvPr>
        </p:nvSpPr>
        <p:spPr>
          <a:xfrm>
            <a:off x="415600" y="1562133"/>
            <a:ext cx="11360700" cy="452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/>
              <a:t>// Visual check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/>
              <a:t>rvfplot, yline(0)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/>
              <a:t>// Formal tests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/>
              <a:t>estat hettest          // Breusch-Pagan test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/>
              <a:t>whitetst              // White's test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idx="4294967295"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Heteroscedasticity Corrective actions </a:t>
            </a:r>
            <a:endParaRPr/>
          </a:p>
        </p:txBody>
      </p:sp>
      <p:sp>
        <p:nvSpPr>
          <p:cNvPr id="120" name="Google Shape;120;p19"/>
          <p:cNvSpPr txBox="1"/>
          <p:nvPr>
            <p:ph idx="4294967295" type="body"/>
          </p:nvPr>
        </p:nvSpPr>
        <p:spPr>
          <a:xfrm>
            <a:off x="415600" y="1562133"/>
            <a:ext cx="11360700" cy="452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Check the other regression assumptions, since a violation of one can lead to a violation of another.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Modify the model formula by adding or dropping variables or interaction terms.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Fit a generalized linear model.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Instead of ordinary least squares regression, use weighted least squares.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idx="4294967295"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Multicollinearity Diagnostics</a:t>
            </a:r>
            <a:endParaRPr/>
          </a:p>
        </p:txBody>
      </p:sp>
      <p:sp>
        <p:nvSpPr>
          <p:cNvPr id="126" name="Google Shape;126;p20"/>
          <p:cNvSpPr txBox="1"/>
          <p:nvPr>
            <p:ph idx="4294967295" type="body"/>
          </p:nvPr>
        </p:nvSpPr>
        <p:spPr>
          <a:xfrm>
            <a:off x="415600" y="1562133"/>
            <a:ext cx="11360700" cy="452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/>
              <a:t>// After regression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/>
              <a:t>vif                    // Variance Inflation Factors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/>
              <a:t>// V</a:t>
            </a:r>
            <a:r>
              <a:rPr lang="en-US"/>
              <a:t>IF &gt; 10 indicates problematic collinearity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/>
              <a:t>// More detailed collinearity diagnostics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/>
              <a:t>collin x1 x2 x3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idx="4294967295"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Multicollinearity corrective</a:t>
            </a:r>
            <a:endParaRPr/>
          </a:p>
        </p:txBody>
      </p:sp>
      <p:sp>
        <p:nvSpPr>
          <p:cNvPr id="132" name="Google Shape;132;p21"/>
          <p:cNvSpPr txBox="1"/>
          <p:nvPr>
            <p:ph idx="4294967295" type="body"/>
          </p:nvPr>
        </p:nvSpPr>
        <p:spPr>
          <a:xfrm>
            <a:off x="415600" y="1562133"/>
            <a:ext cx="11360700" cy="452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/>
              <a:t>Combine predictors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/>
              <a:t>drop predictors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idx="4294967295"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Non-linearity assessment</a:t>
            </a:r>
            <a:endParaRPr/>
          </a:p>
        </p:txBody>
      </p:sp>
      <p:sp>
        <p:nvSpPr>
          <p:cNvPr id="138" name="Google Shape;138;p22"/>
          <p:cNvSpPr txBox="1"/>
          <p:nvPr>
            <p:ph idx="4294967295" type="body"/>
          </p:nvPr>
        </p:nvSpPr>
        <p:spPr>
          <a:xfrm>
            <a:off x="415600" y="1562133"/>
            <a:ext cx="11360700" cy="452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/>
              <a:t>// Component-plus-residual plots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/>
              <a:t>acprplot x1, lowess    // With lowess smoothing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/>
              <a:t>cprplot x1, lowess     // Alternative visualization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idx="4294967295"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Non-linearity corrective actions</a:t>
            </a:r>
            <a:endParaRPr/>
          </a:p>
        </p:txBody>
      </p:sp>
      <p:sp>
        <p:nvSpPr>
          <p:cNvPr id="144" name="Google Shape;144;p23"/>
          <p:cNvSpPr txBox="1"/>
          <p:nvPr>
            <p:ph idx="4294967295" type="body"/>
          </p:nvPr>
        </p:nvSpPr>
        <p:spPr>
          <a:xfrm>
            <a:off x="415600" y="1562133"/>
            <a:ext cx="11360700" cy="452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Check the other regression assumptions, since a violation of one can lead to a violation of another.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Modify the model formula by adding or dropping variables or interaction terms.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Add polynomial terms to the model (squared, cubic, etc.).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Fit a generalized linear model.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Fit an instrumental variables model in order to account for the correlation of the predictors and residuals.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idx="4294967295" type="title"/>
          </p:nvPr>
        </p:nvSpPr>
        <p:spPr>
          <a:xfrm>
            <a:off x="415600" y="593367"/>
            <a:ext cx="11360700" cy="817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Resources</a:t>
            </a:r>
            <a:endParaRPr/>
          </a:p>
        </p:txBody>
      </p:sp>
      <p:sp>
        <p:nvSpPr>
          <p:cNvPr id="150" name="Google Shape;150;p24"/>
          <p:cNvSpPr txBox="1"/>
          <p:nvPr>
            <p:ph idx="4294967295" type="body"/>
          </p:nvPr>
        </p:nvSpPr>
        <p:spPr>
          <a:xfrm>
            <a:off x="415600" y="1562133"/>
            <a:ext cx="11360700" cy="452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82600" lvl="0" marL="609600" rtl="0" algn="l">
              <a:spcBef>
                <a:spcPts val="1000"/>
              </a:spcBef>
              <a:spcAft>
                <a:spcPts val="0"/>
              </a:spcAft>
              <a:buSzPts val="2800"/>
              <a:buAutoNum type="arabicPeriod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https://stats.oarc.ucla.edu/stata/webbooks/reg/chapter2/stata-webbooksregressionwith-statachapter-2-regression-diagnostics/</a:t>
            </a:r>
            <a:endParaRPr/>
          </a:p>
          <a:p>
            <a:pPr indent="-482600" lvl="0" marL="609600" rtl="0" algn="l">
              <a:spcBef>
                <a:spcPts val="100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https://youtu.be/wXLFDTcPF84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