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7dc871f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7dc871f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7dc871f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7dc871f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7dc871f1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7dc871f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7dc871f1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7dc871f1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7dc871f1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7dc871f1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7dc871f1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7dc871f1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7dc871f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7dc871f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7dc871f1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7dc871f1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7dc871f1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7dc871f1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7dc871f1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7dc871f1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7dc871f1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7dc871f1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7dc871f1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7dc871f1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7dc871f1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7dc871f1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7dc871f1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7dc871f1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7dc871f1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7dc871f1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7dc871f1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7dc871f1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7dc871f1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7dc871f1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7dc871f1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7dc871f1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7dc871f1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7dc871f1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7dc871f1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7dc871f1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7dc871f1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7dc871f1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7dfb56e1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7dfb56e1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7dfb56e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7dfb56e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7dfb56e1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37dfb56e1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7dfb56e1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37dfb56e1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7dfb56e1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7dfb56e1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7dfb56e1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7dfb56e1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Understand what is endogeneity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Test for </a:t>
            </a:r>
            <a:r>
              <a:rPr lang="en"/>
              <a:t>endogeneity</a:t>
            </a:r>
            <a:r>
              <a:rPr lang="en"/>
              <a:t> in panel regression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Conduct regression model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Conduct other tests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Endogeneity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Endogeneity occurs when an independent variable is correlated with the error term</a:t>
            </a:r>
            <a:r>
              <a:rPr lang="en">
                <a:solidFill>
                  <a:schemeClr val="dk1"/>
                </a:solidFill>
              </a:rPr>
              <a:t> in a statistical model.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correlation violates the key assumption of </a:t>
            </a:r>
            <a:r>
              <a:rPr b="1" lang="en">
                <a:solidFill>
                  <a:schemeClr val="dk1"/>
                </a:solidFill>
              </a:rPr>
              <a:t>ordinary least squares (OLS) regression</a:t>
            </a:r>
            <a:r>
              <a:rPr lang="en">
                <a:solidFill>
                  <a:schemeClr val="dk1"/>
                </a:solidFill>
              </a:rPr>
              <a:t>, which assumes that explanatory variables are independent of the error term.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Endogeneity Affects Regression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a </a:t>
            </a:r>
            <a:r>
              <a:rPr b="1" lang="en">
                <a:solidFill>
                  <a:schemeClr val="dk1"/>
                </a:solidFill>
              </a:rPr>
              <a:t>regression model</a:t>
            </a:r>
            <a:r>
              <a:rPr lang="en">
                <a:solidFill>
                  <a:schemeClr val="dk1"/>
                </a:solidFill>
              </a:rPr>
              <a:t>, the dependent variable (</a:t>
            </a:r>
            <a:r>
              <a:rPr b="1" lang="en">
                <a:solidFill>
                  <a:schemeClr val="dk1"/>
                </a:solidFill>
              </a:rPr>
              <a:t>Y</a:t>
            </a:r>
            <a:r>
              <a:rPr lang="en">
                <a:solidFill>
                  <a:schemeClr val="dk1"/>
                </a:solidFill>
              </a:rPr>
              <a:t>) is predicted using independent variables (</a:t>
            </a:r>
            <a:r>
              <a:rPr b="1" lang="en">
                <a:solidFill>
                  <a:schemeClr val="dk1"/>
                </a:solidFill>
              </a:rPr>
              <a:t>X₁, X₂, …, Xₙ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any predictor (</a:t>
            </a:r>
            <a:r>
              <a:rPr b="1" lang="en">
                <a:solidFill>
                  <a:schemeClr val="dk1"/>
                </a:solidFill>
              </a:rPr>
              <a:t>X</a:t>
            </a:r>
            <a:r>
              <a:rPr lang="en">
                <a:solidFill>
                  <a:schemeClr val="dk1"/>
                </a:solidFill>
              </a:rPr>
              <a:t>) is </a:t>
            </a:r>
            <a:r>
              <a:rPr b="1" lang="en">
                <a:solidFill>
                  <a:schemeClr val="dk1"/>
                </a:solidFill>
              </a:rPr>
              <a:t>correlated with the error term (ε)</a:t>
            </a:r>
            <a:r>
              <a:rPr lang="en">
                <a:solidFill>
                  <a:schemeClr val="dk1"/>
                </a:solidFill>
              </a:rPr>
              <a:t>, the estimated coefficients will be </a:t>
            </a:r>
            <a:r>
              <a:rPr b="1" lang="en">
                <a:solidFill>
                  <a:schemeClr val="dk1"/>
                </a:solidFill>
              </a:rPr>
              <a:t>biased and inconsistent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means the model </a:t>
            </a:r>
            <a:r>
              <a:rPr b="1" lang="en">
                <a:solidFill>
                  <a:schemeClr val="dk1"/>
                </a:solidFill>
              </a:rPr>
              <a:t>fails to capture the true causal effect</a:t>
            </a:r>
            <a:r>
              <a:rPr lang="en">
                <a:solidFill>
                  <a:schemeClr val="dk1"/>
                </a:solidFill>
              </a:rPr>
              <a:t>, leading to misleading statistical inferences.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Endogeneity is a Problem in Statistics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Causes Bias:</a:t>
            </a:r>
            <a:r>
              <a:rPr lang="en">
                <a:solidFill>
                  <a:schemeClr val="dk1"/>
                </a:solidFill>
              </a:rPr>
              <a:t> The estimated coefficients do not reflect the true relationship between variables.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Affects Hypothesis Testing:</a:t>
            </a:r>
            <a:r>
              <a:rPr lang="en">
                <a:solidFill>
                  <a:schemeClr val="dk1"/>
                </a:solidFill>
              </a:rPr>
              <a:t> Standard errors may be incorrect, leading to unreliable statistical significance results.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Undermines Causal Inference:</a:t>
            </a:r>
            <a:r>
              <a:rPr lang="en">
                <a:solidFill>
                  <a:schemeClr val="dk1"/>
                </a:solidFill>
              </a:rPr>
              <a:t> Makes it difficult to determine whether changes in the independent variable truly cause changes in the dependent variable.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Leads to Incorrect Policy or Business Decisions:</a:t>
            </a:r>
            <a:r>
              <a:rPr lang="en">
                <a:solidFill>
                  <a:schemeClr val="dk1"/>
                </a:solidFill>
              </a:rPr>
              <a:t> In fields like economics, finance, and social sciences, incorrect conclusions due to endogeneity can result in poor decision-making.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✅ Endogeneity occurs when an independent variable correlates with the error term.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✅ It leads to biased, inconsistent, and misleading regression results.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✅ Addressing endogeneity is crucial for making valid statistical inferences and reliable decisions.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of Endogeneity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Omitted Variable Bias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Occurs when a relevant variable is left out of the model.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omitted variable may be correlated with both: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Predictor variables</a:t>
            </a:r>
            <a:r>
              <a:rPr lang="en" sz="1800">
                <a:solidFill>
                  <a:schemeClr val="dk1"/>
                </a:solidFill>
              </a:rPr>
              <a:t> (independent variables in the model).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Dependent variable</a:t>
            </a:r>
            <a:r>
              <a:rPr lang="en" sz="1800">
                <a:solidFill>
                  <a:schemeClr val="dk1"/>
                </a:solidFill>
              </a:rPr>
              <a:t> (outcome being studied).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leads to </a:t>
            </a:r>
            <a:r>
              <a:rPr b="1" lang="en">
                <a:solidFill>
                  <a:schemeClr val="dk1"/>
                </a:solidFill>
              </a:rPr>
              <a:t>biased and inconsistent estimates</a:t>
            </a:r>
            <a:r>
              <a:rPr lang="en">
                <a:solidFill>
                  <a:schemeClr val="dk1"/>
                </a:solidFill>
              </a:rPr>
              <a:t> of the predictor variable’s effect.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Studying the effect of education on income while ignoring intelligence. Intelligence could influence both education level and income, leading to misleading results.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Sources of Endogeneity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Measurement Error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Happens when the values of predictor variables are inaccurately recorded.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result from: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Misreporting or recall bias</a:t>
            </a:r>
            <a:r>
              <a:rPr lang="en" sz="1800">
                <a:solidFill>
                  <a:schemeClr val="dk1"/>
                </a:solidFill>
              </a:rPr>
              <a:t> (e.g., self-reported income data).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Imprecise measurement tools</a:t>
            </a:r>
            <a:r>
              <a:rPr lang="en" sz="1800">
                <a:solidFill>
                  <a:schemeClr val="dk1"/>
                </a:solidFill>
              </a:rPr>
              <a:t> (e.g., rounding errors in survey responses).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Coding errors</a:t>
            </a:r>
            <a:r>
              <a:rPr lang="en" sz="1800">
                <a:solidFill>
                  <a:schemeClr val="dk1"/>
                </a:solidFill>
              </a:rPr>
              <a:t> in data entry.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Leads to </a:t>
            </a:r>
            <a:r>
              <a:rPr b="1" lang="en">
                <a:solidFill>
                  <a:schemeClr val="dk1"/>
                </a:solidFill>
              </a:rPr>
              <a:t>attenuation bias</a:t>
            </a:r>
            <a:r>
              <a:rPr lang="en">
                <a:solidFill>
                  <a:schemeClr val="dk1"/>
                </a:solidFill>
              </a:rPr>
              <a:t>, where the estimated effect of a variable is weaker than it actually 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Selection Bias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Occurs when the sample is </a:t>
            </a:r>
            <a:r>
              <a:rPr b="1" lang="en">
                <a:solidFill>
                  <a:schemeClr val="dk1"/>
                </a:solidFill>
              </a:rPr>
              <a:t>not randomly selected</a:t>
            </a:r>
            <a:r>
              <a:rPr lang="en">
                <a:solidFill>
                  <a:schemeClr val="dk1"/>
                </a:solidFill>
              </a:rPr>
              <a:t>, making it unrepresentative of the population.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Causes bias if certain groups are </a:t>
            </a:r>
            <a:r>
              <a:rPr b="1" lang="en">
                <a:solidFill>
                  <a:schemeClr val="dk1"/>
                </a:solidFill>
              </a:rPr>
              <a:t>systematically excluded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overrepresented</a:t>
            </a:r>
            <a:r>
              <a:rPr lang="en">
                <a:solidFill>
                  <a:schemeClr val="dk1"/>
                </a:solidFill>
              </a:rPr>
              <a:t> in the dataset.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Example: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study on employee wages using only data from employed individuals may ignore the impact of unemployment, biasing the results.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Clinical trials excluding patients with severe conditions may not generalize to real-world cases.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of endogeniety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Simultaneity (Reverse Causality)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Happens when the predictor variable and dependent variable influence each other </a:t>
            </a:r>
            <a:r>
              <a:rPr b="1" lang="en">
                <a:solidFill>
                  <a:schemeClr val="dk1"/>
                </a:solidFill>
              </a:rPr>
              <a:t>simultaneously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Creates a </a:t>
            </a:r>
            <a:r>
              <a:rPr b="1" lang="en">
                <a:solidFill>
                  <a:schemeClr val="dk1"/>
                </a:solidFill>
              </a:rPr>
              <a:t>circular causation problem</a:t>
            </a:r>
            <a:r>
              <a:rPr lang="en">
                <a:solidFill>
                  <a:schemeClr val="dk1"/>
                </a:solidFill>
              </a:rPr>
              <a:t>, making it difficult to determine the true causal direction.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Relationship between </a:t>
            </a:r>
            <a:r>
              <a:rPr b="1" lang="en">
                <a:solidFill>
                  <a:schemeClr val="dk1"/>
                </a:solidFill>
              </a:rPr>
              <a:t>education and income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Higher education may lead to higher income.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However, higher income might also enable individuals to pursue further education.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Addressing Endogeneity in Statistical Analysis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Instrumental Variables (IV) Approach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Uses external variables (instruments) to remove endogeneity bias.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Requirements for a good IV: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Relevance Condition</a:t>
            </a:r>
            <a:r>
              <a:rPr lang="en" sz="1800">
                <a:solidFill>
                  <a:schemeClr val="dk1"/>
                </a:solidFill>
              </a:rPr>
              <a:t> – The instrument must be </a:t>
            </a:r>
            <a:r>
              <a:rPr b="1" lang="en" sz="1800">
                <a:solidFill>
                  <a:schemeClr val="dk1"/>
                </a:solidFill>
              </a:rPr>
              <a:t>highly correlated</a:t>
            </a:r>
            <a:r>
              <a:rPr lang="en" sz="1800">
                <a:solidFill>
                  <a:schemeClr val="dk1"/>
                </a:solidFill>
              </a:rPr>
              <a:t> with the endogenous predictor variable.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Exogeneity Condition</a:t>
            </a:r>
            <a:r>
              <a:rPr lang="en" sz="1800">
                <a:solidFill>
                  <a:schemeClr val="dk1"/>
                </a:solidFill>
              </a:rPr>
              <a:t> – The instrument must not be </a:t>
            </a:r>
            <a:r>
              <a:rPr b="1" lang="en" sz="1800">
                <a:solidFill>
                  <a:schemeClr val="dk1"/>
                </a:solidFill>
              </a:rPr>
              <a:t>correlated with the error term</a:t>
            </a:r>
            <a:r>
              <a:rPr lang="en" sz="1800">
                <a:solidFill>
                  <a:schemeClr val="dk1"/>
                </a:solidFill>
              </a:rPr>
              <a:t> (should not directly affect the dependent variable).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Example: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Studying the effect of </a:t>
            </a:r>
            <a:r>
              <a:rPr b="1" lang="en" sz="1800">
                <a:solidFill>
                  <a:schemeClr val="dk1"/>
                </a:solidFill>
              </a:rPr>
              <a:t>education on income</a:t>
            </a:r>
            <a:r>
              <a:rPr lang="en" sz="1800">
                <a:solidFill>
                  <a:schemeClr val="dk1"/>
                </a:solidFill>
              </a:rPr>
              <a:t>, where </a:t>
            </a:r>
            <a:r>
              <a:rPr b="1" lang="en" sz="1800">
                <a:solidFill>
                  <a:schemeClr val="dk1"/>
                </a:solidFill>
              </a:rPr>
              <a:t>distance to the nearest college</a:t>
            </a:r>
            <a:r>
              <a:rPr lang="en" sz="1800">
                <a:solidFill>
                  <a:schemeClr val="dk1"/>
                </a:solidFill>
              </a:rPr>
              <a:t> can be used as an IV for education (assuming distance affects education but not income directly).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Methods: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Two-Stage Least Squares (2SLS)</a:t>
            </a:r>
            <a:r>
              <a:rPr lang="en" sz="1800">
                <a:solidFill>
                  <a:schemeClr val="dk1"/>
                </a:solidFill>
              </a:rPr>
              <a:t> – First stage predicts the endogenous variable using the instrument, and the second stage estimates the effect on the dependent variable.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Heckman Correction for Sample Selection Bias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Used when sample selection bias is a concern.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Two-step method: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Estimate the probability of selection into the sample using a </a:t>
            </a:r>
            <a:r>
              <a:rPr b="1" lang="en">
                <a:solidFill>
                  <a:schemeClr val="dk1"/>
                </a:solidFill>
              </a:rPr>
              <a:t>probit model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Incorporate the selection probability into the outcome equation to adjust for bias.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Example: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Estimating wages using only employed workers may cause bias; the Heckman correction adjusts for this by modeling the probability of being employed.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Correction methods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Effects and Difference-in-Differences (DID)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Fixed Effects Model: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Controls for unobserved variables that do not change over time (e.g., personal traits).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Useful in panel data analysis where individuals are observed over multiple time periods.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Difference-in-Differences (DID):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Compares changes in outcomes before and after a policy or event between a treatment group and a control group.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Helps eliminate biases due to time trends affecting both groups equally.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Correction methods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Lagged Variables and Dynamic Panel Models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Lagging predictors</a:t>
            </a:r>
            <a:r>
              <a:rPr lang="en">
                <a:solidFill>
                  <a:schemeClr val="dk1"/>
                </a:solidFill>
              </a:rPr>
              <a:t> (using past values) can reduce simultaneity bias.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Dynamic Panel Models</a:t>
            </a:r>
            <a:r>
              <a:rPr lang="en">
                <a:solidFill>
                  <a:schemeClr val="dk1"/>
                </a:solidFill>
              </a:rPr>
              <a:t> (e.g., GMM Estimation) address endogeneity by using past values of variables as instruments.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Endogeneity Tests in Panel Data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Hausman Test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Determines whether the </a:t>
            </a:r>
            <a:r>
              <a:rPr b="1" lang="en">
                <a:solidFill>
                  <a:schemeClr val="dk1"/>
                </a:solidFill>
              </a:rPr>
              <a:t>Fixed Effects (FE) or Random Effects (RE) model</a:t>
            </a:r>
            <a:r>
              <a:rPr lang="en">
                <a:solidFill>
                  <a:schemeClr val="dk1"/>
                </a:solidFill>
              </a:rPr>
              <a:t> should be used.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Interpretation:</a:t>
            </a:r>
            <a:r>
              <a:rPr lang="en">
                <a:solidFill>
                  <a:schemeClr val="dk1"/>
                </a:solidFill>
              </a:rPr>
              <a:t> If the test rejects the null hypothesis, the </a:t>
            </a:r>
            <a:r>
              <a:rPr b="1" lang="en">
                <a:solidFill>
                  <a:schemeClr val="dk1"/>
                </a:solidFill>
              </a:rPr>
              <a:t>RE model is inconsistent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FE should be used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Stata Command: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stata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CopyEdit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hausman fe re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Hypothesis statements: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Null Hypothesis (H₀):</a:t>
            </a:r>
            <a:r>
              <a:rPr lang="en">
                <a:solidFill>
                  <a:schemeClr val="dk1"/>
                </a:solidFill>
              </a:rPr>
              <a:t> The </a:t>
            </a:r>
            <a:r>
              <a:rPr b="1" lang="en">
                <a:solidFill>
                  <a:schemeClr val="dk1"/>
                </a:solidFill>
              </a:rPr>
              <a:t>Random Effects (RE) model</a:t>
            </a:r>
            <a:r>
              <a:rPr lang="en">
                <a:solidFill>
                  <a:schemeClr val="dk1"/>
                </a:solidFill>
              </a:rPr>
              <a:t> is appropriate (no correlation between regressors and error term).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Alternative Hypothesis (H₁):</a:t>
            </a:r>
            <a:r>
              <a:rPr lang="en">
                <a:solidFill>
                  <a:schemeClr val="dk1"/>
                </a:solidFill>
              </a:rPr>
              <a:t> The </a:t>
            </a:r>
            <a:r>
              <a:rPr b="1" lang="en">
                <a:solidFill>
                  <a:schemeClr val="dk1"/>
                </a:solidFill>
              </a:rPr>
              <a:t>Fixed Effects (FE) model</a:t>
            </a:r>
            <a:r>
              <a:rPr lang="en">
                <a:solidFill>
                  <a:schemeClr val="dk1"/>
                </a:solidFill>
              </a:rPr>
              <a:t> is preferred (regressors are correlated with the error term, indicating endogeneity).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Serial correlation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Wooldridge Test for Autocorrelation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Detects </a:t>
            </a:r>
            <a:r>
              <a:rPr b="1" lang="en">
                <a:solidFill>
                  <a:schemeClr val="dk1"/>
                </a:solidFill>
              </a:rPr>
              <a:t>autocorrelation</a:t>
            </a:r>
            <a:r>
              <a:rPr lang="en">
                <a:solidFill>
                  <a:schemeClr val="dk1"/>
                </a:solidFill>
              </a:rPr>
              <a:t>, which can indicate endogeneity in panel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Interpretation:</a:t>
            </a:r>
            <a:r>
              <a:rPr lang="en">
                <a:solidFill>
                  <a:schemeClr val="dk1"/>
                </a:solidFill>
              </a:rPr>
              <a:t> Rejection suggests the presence of serial correlation.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Stata Command: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xtserial y x1 x2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Hypothesis Statements: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Null Hypothesis (H₀):</a:t>
            </a:r>
            <a:r>
              <a:rPr lang="en">
                <a:solidFill>
                  <a:schemeClr val="dk1"/>
                </a:solidFill>
              </a:rPr>
              <a:t> No </a:t>
            </a:r>
            <a:r>
              <a:rPr b="1" lang="en">
                <a:solidFill>
                  <a:schemeClr val="dk1"/>
                </a:solidFill>
              </a:rPr>
              <a:t>first-order autocorrelation</a:t>
            </a:r>
            <a:r>
              <a:rPr lang="en">
                <a:solidFill>
                  <a:schemeClr val="dk1"/>
                </a:solidFill>
              </a:rPr>
              <a:t> exists in the panel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Alternative Hypothesis (H₁):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First-order autocorrelation</a:t>
            </a:r>
            <a:r>
              <a:rPr lang="en">
                <a:solidFill>
                  <a:schemeClr val="dk1"/>
                </a:solidFill>
              </a:rPr>
              <a:t> is present, which may indicate endogeneity.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in GMM models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Arellano-Bond Test for AR(1) and AR(2)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Checks for </a:t>
            </a:r>
            <a:r>
              <a:rPr b="1" lang="en">
                <a:solidFill>
                  <a:schemeClr val="dk1"/>
                </a:solidFill>
              </a:rPr>
              <a:t>autocorrelation in dynamic panel data models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Interpretation: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AR(1) is expected</a:t>
            </a:r>
            <a:r>
              <a:rPr lang="en">
                <a:solidFill>
                  <a:schemeClr val="dk1"/>
                </a:solidFill>
              </a:rPr>
              <a:t>, but </a:t>
            </a:r>
            <a:r>
              <a:rPr b="1" lang="en">
                <a:solidFill>
                  <a:schemeClr val="dk1"/>
                </a:solidFill>
              </a:rPr>
              <a:t>AR(2) suggests endogeneity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Hypothesis statements</a:t>
            </a:r>
            <a:br>
              <a:rPr lang="en"/>
            </a:br>
            <a:r>
              <a:rPr b="1" lang="en">
                <a:solidFill>
                  <a:schemeClr val="dk1"/>
                </a:solidFill>
              </a:rPr>
              <a:t>Arellano-Bond Test for AR(1) and AR(2)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Null Hypothesis (H₀) for AR(1):</a:t>
            </a:r>
            <a:r>
              <a:rPr lang="en">
                <a:solidFill>
                  <a:schemeClr val="dk1"/>
                </a:solidFill>
              </a:rPr>
              <a:t> The first-differenced errors exhibit </a:t>
            </a:r>
            <a:r>
              <a:rPr b="1" lang="en">
                <a:solidFill>
                  <a:schemeClr val="dk1"/>
                </a:solidFill>
              </a:rPr>
              <a:t>first-order autocorrelation</a:t>
            </a:r>
            <a:r>
              <a:rPr lang="en">
                <a:solidFill>
                  <a:schemeClr val="dk1"/>
                </a:solidFill>
              </a:rPr>
              <a:t> (expected in dynamic models).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Null Hypothesis (H₀) for AR(2):</a:t>
            </a:r>
            <a:r>
              <a:rPr lang="en">
                <a:solidFill>
                  <a:schemeClr val="dk1"/>
                </a:solidFill>
              </a:rPr>
              <a:t> There is </a:t>
            </a:r>
            <a:r>
              <a:rPr b="1" lang="en">
                <a:solidFill>
                  <a:schemeClr val="dk1"/>
                </a:solidFill>
              </a:rPr>
              <a:t>no second-order autocorrelation</a:t>
            </a:r>
            <a:r>
              <a:rPr lang="en">
                <a:solidFill>
                  <a:schemeClr val="dk1"/>
                </a:solidFill>
              </a:rPr>
              <a:t> in the differenced errors.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Alternative Hypothesis (H₁) for AR(2):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Second-order autocorrelation exists</a:t>
            </a:r>
            <a:r>
              <a:rPr lang="en">
                <a:solidFill>
                  <a:schemeClr val="dk1"/>
                </a:solidFill>
              </a:rPr>
              <a:t>, suggesting endogeneity.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 in GMM models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Sargan-Hansen Test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Null Hypothesis (H₀):</a:t>
            </a:r>
            <a:r>
              <a:rPr lang="en">
                <a:solidFill>
                  <a:schemeClr val="dk1"/>
                </a:solidFill>
              </a:rPr>
              <a:t> The </a:t>
            </a:r>
            <a:r>
              <a:rPr b="1" lang="en">
                <a:solidFill>
                  <a:schemeClr val="dk1"/>
                </a:solidFill>
              </a:rPr>
              <a:t>instruments are valid</a:t>
            </a:r>
            <a:r>
              <a:rPr lang="en">
                <a:solidFill>
                  <a:schemeClr val="dk1"/>
                </a:solidFill>
              </a:rPr>
              <a:t> (uncorrelated with the error term).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Alternative Hypothesis (H₁):</a:t>
            </a:r>
            <a:r>
              <a:rPr lang="en">
                <a:solidFill>
                  <a:schemeClr val="dk1"/>
                </a:solidFill>
              </a:rPr>
              <a:t> The </a:t>
            </a:r>
            <a:r>
              <a:rPr b="1" lang="en">
                <a:solidFill>
                  <a:schemeClr val="dk1"/>
                </a:solidFill>
              </a:rPr>
              <a:t>instruments are not valid</a:t>
            </a:r>
            <a:r>
              <a:rPr lang="en">
                <a:solidFill>
                  <a:schemeClr val="dk1"/>
                </a:solidFill>
              </a:rPr>
              <a:t> (correlated with the error term, suggesting endogeneity).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in GMM models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Difference-in-Hansen Test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Null Hypothesis (H₀):</a:t>
            </a:r>
            <a:r>
              <a:rPr lang="en">
                <a:solidFill>
                  <a:schemeClr val="dk1"/>
                </a:solidFill>
              </a:rPr>
              <a:t> The subset of instruments is </a:t>
            </a:r>
            <a:r>
              <a:rPr b="1" lang="en">
                <a:solidFill>
                  <a:schemeClr val="dk1"/>
                </a:solidFill>
              </a:rPr>
              <a:t>valid</a:t>
            </a:r>
            <a:r>
              <a:rPr lang="en">
                <a:solidFill>
                  <a:schemeClr val="dk1"/>
                </a:solidFill>
              </a:rPr>
              <a:t> (uncorrelated with the error term).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Alternative Hypothesis (H₁):</a:t>
            </a:r>
            <a:r>
              <a:rPr lang="en">
                <a:solidFill>
                  <a:schemeClr val="dk1"/>
                </a:solidFill>
              </a:rPr>
              <a:t> The subset of instruments is </a:t>
            </a:r>
            <a:r>
              <a:rPr b="1" lang="en">
                <a:solidFill>
                  <a:schemeClr val="dk1"/>
                </a:solidFill>
              </a:rPr>
              <a:t>invalid</a:t>
            </a:r>
            <a:r>
              <a:rPr lang="en">
                <a:solidFill>
                  <a:schemeClr val="dk1"/>
                </a:solidFill>
              </a:rPr>
              <a:t> (suggesting over-identification or weak instruments).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tests</a:t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Lagrange Multiplier (LM) Test for Random Effects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Purpose of the LM Test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Determines whether a </a:t>
            </a:r>
            <a:r>
              <a:rPr b="1" lang="en">
                <a:solidFill>
                  <a:schemeClr val="dk1"/>
                </a:solidFill>
              </a:rPr>
              <a:t>random effects model</a:t>
            </a:r>
            <a:r>
              <a:rPr lang="en">
                <a:solidFill>
                  <a:schemeClr val="dk1"/>
                </a:solidFill>
              </a:rPr>
              <a:t> is appropriate.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Tests if </a:t>
            </a:r>
            <a:r>
              <a:rPr b="1" lang="en">
                <a:solidFill>
                  <a:schemeClr val="dk1"/>
                </a:solidFill>
              </a:rPr>
              <a:t>random effects are significant</a:t>
            </a:r>
            <a:r>
              <a:rPr lang="en">
                <a:solidFill>
                  <a:schemeClr val="dk1"/>
                </a:solidFill>
              </a:rPr>
              <a:t> or if a </a:t>
            </a:r>
            <a:r>
              <a:rPr b="1" lang="en">
                <a:solidFill>
                  <a:schemeClr val="dk1"/>
                </a:solidFill>
              </a:rPr>
              <a:t>pooled OLS model</a:t>
            </a:r>
            <a:r>
              <a:rPr lang="en">
                <a:solidFill>
                  <a:schemeClr val="dk1"/>
                </a:solidFill>
              </a:rPr>
              <a:t> should be used instead.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Helps identify potential </a:t>
            </a:r>
            <a:r>
              <a:rPr b="1" lang="en">
                <a:solidFill>
                  <a:schemeClr val="dk1"/>
                </a:solidFill>
              </a:rPr>
              <a:t>unobserved heterogeneity</a:t>
            </a:r>
            <a:r>
              <a:rPr lang="en">
                <a:solidFill>
                  <a:schemeClr val="dk1"/>
                </a:solidFill>
              </a:rPr>
              <a:t>, which can cause </a:t>
            </a:r>
            <a:r>
              <a:rPr b="1" lang="en">
                <a:solidFill>
                  <a:schemeClr val="dk1"/>
                </a:solidFill>
              </a:rPr>
              <a:t>endogeneity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Hypothesis Statements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H₀ (Null Hypothesis):</a:t>
            </a:r>
            <a:r>
              <a:rPr lang="en">
                <a:solidFill>
                  <a:schemeClr val="dk1"/>
                </a:solidFill>
              </a:rPr>
              <a:t> No </a:t>
            </a:r>
            <a:r>
              <a:rPr b="1" lang="en">
                <a:solidFill>
                  <a:schemeClr val="dk1"/>
                </a:solidFill>
              </a:rPr>
              <a:t>random effects</a:t>
            </a:r>
            <a:r>
              <a:rPr lang="en">
                <a:solidFill>
                  <a:schemeClr val="dk1"/>
                </a:solidFill>
              </a:rPr>
              <a:t> exist (a pooled OLS model is appropriate).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H₁ (Alternative Hypothesis):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Random effects</a:t>
            </a:r>
            <a:r>
              <a:rPr lang="en">
                <a:solidFill>
                  <a:schemeClr val="dk1"/>
                </a:solidFill>
              </a:rPr>
              <a:t> exist (a random effects model is preferred).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H₀ is rejected, use a random effects model (suggests possible endogeneity from unobserved factors).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H₀ is not rejected, use a pooled OLS model (random effects are not significant).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for heteroscedasticity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79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Cross-sectional dependence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problem of cross-sectional dependence arises if the n individuals in our sample are no longer independently drawn observations but affect each other's outcomes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Baltagi-Pesaran Lagrange Multiplier (B-P/LM) Test for Cross-Sectional Dependence</a:t>
            </a:r>
            <a:endParaRPr/>
          </a:p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Purpose of the B-P/LM Test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Determines whether </a:t>
            </a:r>
            <a:r>
              <a:rPr b="1" lang="en">
                <a:solidFill>
                  <a:schemeClr val="dk1"/>
                </a:solidFill>
              </a:rPr>
              <a:t>cross-sectional dependence</a:t>
            </a:r>
            <a:r>
              <a:rPr lang="en">
                <a:solidFill>
                  <a:schemeClr val="dk1"/>
                </a:solidFill>
              </a:rPr>
              <a:t> exists in </a:t>
            </a:r>
            <a:r>
              <a:rPr b="1" lang="en">
                <a:solidFill>
                  <a:schemeClr val="dk1"/>
                </a:solidFill>
              </a:rPr>
              <a:t>panel data models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Essential for </a:t>
            </a:r>
            <a:r>
              <a:rPr b="1" lang="en">
                <a:solidFill>
                  <a:schemeClr val="dk1"/>
                </a:solidFill>
              </a:rPr>
              <a:t>macro panels</a:t>
            </a:r>
            <a:r>
              <a:rPr lang="en">
                <a:solidFill>
                  <a:schemeClr val="dk1"/>
                </a:solidFill>
              </a:rPr>
              <a:t> with </a:t>
            </a:r>
            <a:r>
              <a:rPr b="1" lang="en">
                <a:solidFill>
                  <a:schemeClr val="dk1"/>
                </a:solidFill>
              </a:rPr>
              <a:t>long time series</a:t>
            </a:r>
            <a:r>
              <a:rPr lang="en">
                <a:solidFill>
                  <a:schemeClr val="dk1"/>
                </a:solidFill>
              </a:rPr>
              <a:t> (typically </a:t>
            </a:r>
            <a:r>
              <a:rPr b="1" lang="en">
                <a:solidFill>
                  <a:schemeClr val="dk1"/>
                </a:solidFill>
              </a:rPr>
              <a:t>over 20–30 years</a:t>
            </a:r>
            <a:r>
              <a:rPr lang="en">
                <a:solidFill>
                  <a:schemeClr val="dk1"/>
                </a:solidFill>
              </a:rPr>
              <a:t>, as suggested by Baltagi).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Helps assess whether </a:t>
            </a:r>
            <a:r>
              <a:rPr b="1" lang="en">
                <a:solidFill>
                  <a:schemeClr val="dk1"/>
                </a:solidFill>
              </a:rPr>
              <a:t>residuals are correlated across entities</a:t>
            </a:r>
            <a:r>
              <a:rPr lang="en">
                <a:solidFill>
                  <a:schemeClr val="dk1"/>
                </a:solidFill>
              </a:rPr>
              <a:t>, which can lead to </a:t>
            </a:r>
            <a:r>
              <a:rPr b="1" lang="en">
                <a:solidFill>
                  <a:schemeClr val="dk1"/>
                </a:solidFill>
              </a:rPr>
              <a:t>biased estimates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cont’d….</a:t>
            </a:r>
            <a:endParaRPr/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Statements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H₀ (Null Hypothesis): No cross-sectional dependence (residuals across entities are not correlated).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H₁ (Alternative Hypothesis): Cross-sectional dependence exists (residuals across entities are correlated).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cont’d</a:t>
            </a:r>
            <a:endParaRPr/>
          </a:p>
        </p:txBody>
      </p:sp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Why It Matters?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Cross-sectional dependence</a:t>
            </a:r>
            <a:r>
              <a:rPr lang="en">
                <a:solidFill>
                  <a:schemeClr val="dk1"/>
                </a:solidFill>
              </a:rPr>
              <a:t> can arise due to </a:t>
            </a:r>
            <a:r>
              <a:rPr b="1" lang="en">
                <a:solidFill>
                  <a:schemeClr val="dk1"/>
                </a:solidFill>
              </a:rPr>
              <a:t>common shocks, spillover effects, or omitted variables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detected, adjustments such as </a:t>
            </a:r>
            <a:r>
              <a:rPr b="1" lang="en">
                <a:solidFill>
                  <a:schemeClr val="dk1"/>
                </a:solidFill>
              </a:rPr>
              <a:t>Driscoll-Kraay standard errors or spatial econometric models</a:t>
            </a:r>
            <a:r>
              <a:rPr lang="en">
                <a:solidFill>
                  <a:schemeClr val="dk1"/>
                </a:solidFill>
              </a:rPr>
              <a:t> may be needed.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cont’d</a:t>
            </a:r>
            <a:endParaRPr/>
          </a:p>
        </p:txBody>
      </p:sp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Stata Commands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Install the necessary command (only once):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ssc install xttest2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Run a </a:t>
            </a:r>
            <a:r>
              <a:rPr b="1" lang="en">
                <a:solidFill>
                  <a:schemeClr val="dk1"/>
                </a:solidFill>
              </a:rPr>
              <a:t>fixed effects regression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xtreg ln_gdppc ln_trade ln_labor, fe robust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Conduct the </a:t>
            </a:r>
            <a:r>
              <a:rPr b="1" lang="en">
                <a:solidFill>
                  <a:schemeClr val="dk1"/>
                </a:solidFill>
              </a:rPr>
              <a:t>B-P/LM test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xttest2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cont’d</a:t>
            </a:r>
            <a:endParaRPr/>
          </a:p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Interpretation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If H₀ is rejected</a:t>
            </a:r>
            <a:r>
              <a:rPr lang="en">
                <a:solidFill>
                  <a:schemeClr val="dk1"/>
                </a:solidFill>
              </a:rPr>
              <a:t> → </a:t>
            </a:r>
            <a:r>
              <a:rPr b="1" lang="en">
                <a:solidFill>
                  <a:schemeClr val="dk1"/>
                </a:solidFill>
              </a:rPr>
              <a:t>Cross-sectional dependence exists</a:t>
            </a:r>
            <a:r>
              <a:rPr lang="en">
                <a:solidFill>
                  <a:schemeClr val="dk1"/>
                </a:solidFill>
              </a:rPr>
              <a:t> → Consider </a:t>
            </a:r>
            <a:r>
              <a:rPr b="1" lang="en">
                <a:solidFill>
                  <a:schemeClr val="dk1"/>
                </a:solidFill>
              </a:rPr>
              <a:t>correcting for dependence</a:t>
            </a:r>
            <a:r>
              <a:rPr lang="en">
                <a:solidFill>
                  <a:schemeClr val="dk1"/>
                </a:solidFill>
              </a:rPr>
              <a:t> in the model.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If H₀ is not rejected</a:t>
            </a:r>
            <a:r>
              <a:rPr lang="en">
                <a:solidFill>
                  <a:schemeClr val="dk1"/>
                </a:solidFill>
              </a:rPr>
              <a:t> → </a:t>
            </a:r>
            <a:r>
              <a:rPr b="1" lang="en">
                <a:solidFill>
                  <a:schemeClr val="dk1"/>
                </a:solidFill>
              </a:rPr>
              <a:t>No evidence of cross-sectional dependence</a:t>
            </a:r>
            <a:r>
              <a:rPr lang="en">
                <a:solidFill>
                  <a:schemeClr val="dk1"/>
                </a:solidFill>
              </a:rPr>
              <a:t> → Standard panel methods may be used.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